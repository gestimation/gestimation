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6"/>
  </p:notesMasterIdLst>
  <p:handoutMasterIdLst>
    <p:handoutMasterId r:id="rId7"/>
  </p:handoutMasterIdLst>
  <p:sldIdLst>
    <p:sldId id="1019" r:id="rId2"/>
    <p:sldId id="1020" r:id="rId3"/>
    <p:sldId id="1016" r:id="rId4"/>
    <p:sldId id="1017" r:id="rId5"/>
  </p:sldIdLst>
  <p:sldSz cx="12192000" cy="6858000"/>
  <p:notesSz cx="6735763" cy="98663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A1D7"/>
    <a:srgbClr val="27467D"/>
    <a:srgbClr val="668C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075" autoAdjust="0"/>
    <p:restoredTop sz="74817" autoAdjust="0"/>
  </p:normalViewPr>
  <p:slideViewPr>
    <p:cSldViewPr snapToGrid="0" showGuides="1">
      <p:cViewPr varScale="1">
        <p:scale>
          <a:sx n="97" d="100"/>
          <a:sy n="97" d="100"/>
        </p:scale>
        <p:origin x="1506" y="78"/>
      </p:cViewPr>
      <p:guideLst>
        <p:guide orient="horz" pos="2160"/>
        <p:guide pos="3840"/>
      </p:guideLst>
    </p:cSldViewPr>
  </p:slideViewPr>
  <p:notesTextViewPr>
    <p:cViewPr>
      <p:scale>
        <a:sx n="75" d="100"/>
        <a:sy n="75" d="100"/>
      </p:scale>
      <p:origin x="0" y="0"/>
    </p:cViewPr>
  </p:notesTextViewPr>
  <p:notesViewPr>
    <p:cSldViewPr snapToGrid="0">
      <p:cViewPr varScale="1">
        <p:scale>
          <a:sx n="81" d="100"/>
          <a:sy n="81" d="100"/>
        </p:scale>
        <p:origin x="400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handoutMaster" Target="handoutMasters/handout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18831" cy="495029"/>
          </a:xfrm>
          <a:prstGeom prst="rect">
            <a:avLst/>
          </a:prstGeom>
        </p:spPr>
        <p:txBody>
          <a:bodyPr vert="horz" lIns="90638" tIns="45318" rIns="90638" bIns="45318"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15375" y="2"/>
            <a:ext cx="2918831" cy="495029"/>
          </a:xfrm>
          <a:prstGeom prst="rect">
            <a:avLst/>
          </a:prstGeom>
        </p:spPr>
        <p:txBody>
          <a:bodyPr vert="horz" lIns="90638" tIns="45318" rIns="90638" bIns="45318" rtlCol="0"/>
          <a:lstStyle>
            <a:lvl1pPr algn="r">
              <a:defRPr sz="1200"/>
            </a:lvl1pPr>
          </a:lstStyle>
          <a:p>
            <a:fld id="{0DFB47E9-4361-46B2-A7D1-8BA40029D74D}" type="datetimeFigureOut">
              <a:rPr kumimoji="1" lang="ja-JP" altLang="en-US" smtClean="0"/>
              <a:t>2025/12/16</a:t>
            </a:fld>
            <a:endParaRPr kumimoji="1" lang="ja-JP" altLang="en-US"/>
          </a:p>
        </p:txBody>
      </p:sp>
      <p:sp>
        <p:nvSpPr>
          <p:cNvPr id="4" name="フッター プレースホルダー 3"/>
          <p:cNvSpPr>
            <a:spLocks noGrp="1"/>
          </p:cNvSpPr>
          <p:nvPr>
            <p:ph type="ftr" sz="quarter" idx="2"/>
          </p:nvPr>
        </p:nvSpPr>
        <p:spPr>
          <a:xfrm>
            <a:off x="1" y="9371286"/>
            <a:ext cx="2918831" cy="495028"/>
          </a:xfrm>
          <a:prstGeom prst="rect">
            <a:avLst/>
          </a:prstGeom>
        </p:spPr>
        <p:txBody>
          <a:bodyPr vert="horz" lIns="90638" tIns="45318" rIns="90638" bIns="45318"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15375" y="9371286"/>
            <a:ext cx="2918831" cy="495028"/>
          </a:xfrm>
          <a:prstGeom prst="rect">
            <a:avLst/>
          </a:prstGeom>
        </p:spPr>
        <p:txBody>
          <a:bodyPr vert="horz" lIns="90638" tIns="45318" rIns="90638" bIns="45318" rtlCol="0" anchor="b"/>
          <a:lstStyle>
            <a:lvl1pPr algn="r">
              <a:defRPr sz="1200"/>
            </a:lvl1pPr>
          </a:lstStyle>
          <a:p>
            <a:fld id="{E279744D-1C23-48B9-8D33-12A167A809EF}" type="slidenum">
              <a:rPr kumimoji="1" lang="ja-JP" altLang="en-US" smtClean="0"/>
              <a:t>‹#›</a:t>
            </a:fld>
            <a:endParaRPr kumimoji="1" lang="ja-JP" altLang="en-US"/>
          </a:p>
        </p:txBody>
      </p:sp>
    </p:spTree>
    <p:extLst>
      <p:ext uri="{BB962C8B-B14F-4D97-AF65-F5344CB8AC3E}">
        <p14:creationId xmlns:p14="http://schemas.microsoft.com/office/powerpoint/2010/main" val="3915674608"/>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0"/>
            <a:ext cx="2918831" cy="493316"/>
          </a:xfrm>
          <a:prstGeom prst="rect">
            <a:avLst/>
          </a:prstGeom>
        </p:spPr>
        <p:txBody>
          <a:bodyPr vert="horz" lIns="90638" tIns="45318" rIns="90638" bIns="45318"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5375" y="0"/>
            <a:ext cx="2918831" cy="493316"/>
          </a:xfrm>
          <a:prstGeom prst="rect">
            <a:avLst/>
          </a:prstGeom>
        </p:spPr>
        <p:txBody>
          <a:bodyPr vert="horz" lIns="90638" tIns="45318" rIns="90638" bIns="45318" rtlCol="0"/>
          <a:lstStyle>
            <a:lvl1pPr algn="r">
              <a:defRPr sz="1200"/>
            </a:lvl1pPr>
          </a:lstStyle>
          <a:p>
            <a:fld id="{D6FA193B-AC80-49CF-AD5F-5200027894E9}" type="datetimeFigureOut">
              <a:rPr kumimoji="1" lang="ja-JP" altLang="en-US" smtClean="0"/>
              <a:t>2025/12/16</a:t>
            </a:fld>
            <a:endParaRPr kumimoji="1" lang="ja-JP" altLang="en-US"/>
          </a:p>
        </p:txBody>
      </p:sp>
      <p:sp>
        <p:nvSpPr>
          <p:cNvPr id="4" name="スライド イメージ プレースホルダー 3"/>
          <p:cNvSpPr>
            <a:spLocks noGrp="1" noRot="1" noChangeAspect="1"/>
          </p:cNvSpPr>
          <p:nvPr>
            <p:ph type="sldImg" idx="2"/>
          </p:nvPr>
        </p:nvSpPr>
        <p:spPr>
          <a:xfrm>
            <a:off x="82550" y="741363"/>
            <a:ext cx="6570663" cy="3697287"/>
          </a:xfrm>
          <a:prstGeom prst="rect">
            <a:avLst/>
          </a:prstGeom>
          <a:noFill/>
          <a:ln w="12700">
            <a:solidFill>
              <a:prstClr val="black"/>
            </a:solidFill>
          </a:ln>
        </p:spPr>
        <p:txBody>
          <a:bodyPr vert="horz" lIns="90638" tIns="45318" rIns="90638" bIns="45318" rtlCol="0" anchor="ctr"/>
          <a:lstStyle/>
          <a:p>
            <a:endParaRPr lang="ja-JP" altLang="en-US"/>
          </a:p>
        </p:txBody>
      </p:sp>
      <p:sp>
        <p:nvSpPr>
          <p:cNvPr id="5" name="ノート プレースホルダー 4"/>
          <p:cNvSpPr>
            <a:spLocks noGrp="1"/>
          </p:cNvSpPr>
          <p:nvPr>
            <p:ph type="body" sz="quarter" idx="3"/>
          </p:nvPr>
        </p:nvSpPr>
        <p:spPr>
          <a:xfrm>
            <a:off x="673577" y="4686500"/>
            <a:ext cx="5388610" cy="4439841"/>
          </a:xfrm>
          <a:prstGeom prst="rect">
            <a:avLst/>
          </a:prstGeom>
        </p:spPr>
        <p:txBody>
          <a:bodyPr vert="horz" lIns="90638" tIns="45318" rIns="90638" bIns="45318"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371285"/>
            <a:ext cx="2918831" cy="493316"/>
          </a:xfrm>
          <a:prstGeom prst="rect">
            <a:avLst/>
          </a:prstGeom>
        </p:spPr>
        <p:txBody>
          <a:bodyPr vert="horz" lIns="90638" tIns="45318" rIns="90638" bIns="45318"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5375" y="9371285"/>
            <a:ext cx="2918831" cy="493316"/>
          </a:xfrm>
          <a:prstGeom prst="rect">
            <a:avLst/>
          </a:prstGeom>
        </p:spPr>
        <p:txBody>
          <a:bodyPr vert="horz" lIns="90638" tIns="45318" rIns="90638" bIns="45318" rtlCol="0" anchor="b"/>
          <a:lstStyle>
            <a:lvl1pPr algn="r">
              <a:defRPr sz="1200"/>
            </a:lvl1pPr>
          </a:lstStyle>
          <a:p>
            <a:fld id="{A6E8E1EB-2CF8-4F4B-854D-E7A20CF9AF41}" type="slidenum">
              <a:rPr kumimoji="1" lang="ja-JP" altLang="en-US" smtClean="0"/>
              <a:t>‹#›</a:t>
            </a:fld>
            <a:endParaRPr kumimoji="1" lang="ja-JP" altLang="en-US"/>
          </a:p>
        </p:txBody>
      </p:sp>
    </p:spTree>
    <p:extLst>
      <p:ext uri="{BB962C8B-B14F-4D97-AF65-F5344CB8AC3E}">
        <p14:creationId xmlns:p14="http://schemas.microsoft.com/office/powerpoint/2010/main" val="2652765569"/>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これを。イメージ図で表すとこうなります</a:t>
            </a:r>
            <a:r>
              <a:rPr kumimoji="1" lang="en-US" altLang="ja-JP" dirty="0"/>
              <a:t>. </a:t>
            </a:r>
            <a:r>
              <a:rPr kumimoji="1" lang="ja-JP" altLang="en-US" dirty="0"/>
              <a:t>この図では</a:t>
            </a:r>
            <a:r>
              <a:rPr kumimoji="1" lang="en-US" altLang="ja-JP" dirty="0"/>
              <a:t>, </a:t>
            </a:r>
            <a:r>
              <a:rPr kumimoji="1" lang="ja-JP" altLang="en-US" dirty="0"/>
              <a:t>リツキシマブ群</a:t>
            </a:r>
            <a:r>
              <a:rPr kumimoji="1" lang="en-US" altLang="ja-JP" dirty="0"/>
              <a:t>6</a:t>
            </a:r>
            <a:r>
              <a:rPr kumimoji="1" lang="ja-JP" altLang="en-US" dirty="0"/>
              <a:t>人</a:t>
            </a:r>
            <a:r>
              <a:rPr kumimoji="1" lang="en-US" altLang="ja-JP" dirty="0"/>
              <a:t>, </a:t>
            </a:r>
            <a:r>
              <a:rPr kumimoji="1" lang="ja-JP" altLang="en-US" dirty="0"/>
              <a:t>プラセボ群</a:t>
            </a:r>
            <a:r>
              <a:rPr kumimoji="1" lang="en-US" altLang="ja-JP" dirty="0"/>
              <a:t>7</a:t>
            </a:r>
            <a:r>
              <a:rPr kumimoji="1" lang="ja-JP" altLang="en-US" dirty="0"/>
              <a:t>人の</a:t>
            </a:r>
            <a:r>
              <a:rPr kumimoji="1" lang="en-US" altLang="ja-JP" dirty="0"/>
              <a:t>13</a:t>
            </a:r>
            <a:r>
              <a:rPr kumimoji="1" lang="ja-JP" altLang="en-US" dirty="0"/>
              <a:t>人の集団を</a:t>
            </a:r>
            <a:r>
              <a:rPr kumimoji="1" lang="en-US" altLang="ja-JP" dirty="0"/>
              <a:t>, 10</a:t>
            </a:r>
            <a:r>
              <a:rPr kumimoji="1" lang="ja-JP" altLang="en-US" dirty="0"/>
              <a:t>ヶ月間追跡した状況を表しています</a:t>
            </a:r>
            <a:r>
              <a:rPr kumimoji="1" lang="en-US" altLang="ja-JP" dirty="0"/>
              <a:t>. </a:t>
            </a:r>
            <a:r>
              <a:rPr kumimoji="1" lang="ja-JP" altLang="en-US" dirty="0"/>
              <a:t>リツキシマブ群では</a:t>
            </a:r>
            <a:r>
              <a:rPr kumimoji="1" lang="en-US" altLang="ja-JP" dirty="0"/>
              <a:t>1</a:t>
            </a:r>
            <a:r>
              <a:rPr kumimoji="1" lang="ja-JP" altLang="en-US" dirty="0"/>
              <a:t>人</a:t>
            </a:r>
            <a:r>
              <a:rPr kumimoji="1" lang="en-US" altLang="ja-JP" dirty="0"/>
              <a:t>, </a:t>
            </a:r>
            <a:r>
              <a:rPr kumimoji="1" lang="ja-JP" altLang="en-US" dirty="0"/>
              <a:t>プラセボ群では</a:t>
            </a:r>
            <a:r>
              <a:rPr kumimoji="1" lang="en-US" altLang="ja-JP" dirty="0"/>
              <a:t>4</a:t>
            </a:r>
            <a:r>
              <a:rPr kumimoji="1" lang="ja-JP" altLang="en-US" dirty="0"/>
              <a:t>人で再発が観察されましたが</a:t>
            </a:r>
            <a:r>
              <a:rPr kumimoji="1" lang="en-US" altLang="ja-JP" dirty="0"/>
              <a:t>, </a:t>
            </a:r>
            <a:r>
              <a:rPr kumimoji="1" lang="ja-JP" altLang="en-US" dirty="0"/>
              <a:t>追跡途中で</a:t>
            </a:r>
            <a:r>
              <a:rPr kumimoji="1" lang="en-US" altLang="ja-JP" dirty="0"/>
              <a:t>, </a:t>
            </a:r>
            <a:r>
              <a:rPr kumimoji="1" lang="ja-JP" altLang="en-US" dirty="0"/>
              <a:t>追跡不能になる患者もいますし</a:t>
            </a:r>
            <a:r>
              <a:rPr kumimoji="1" lang="en-US" altLang="ja-JP" dirty="0"/>
              <a:t>, 10</a:t>
            </a:r>
            <a:r>
              <a:rPr kumimoji="1" lang="ja-JP" altLang="en-US" dirty="0"/>
              <a:t>ヶ月経って試験が終了しても再発が起きていない患者もいるはずです</a:t>
            </a:r>
            <a:r>
              <a:rPr kumimoji="1" lang="en-US" altLang="ja-JP" dirty="0"/>
              <a:t>. </a:t>
            </a:r>
            <a:r>
              <a:rPr kumimoji="1" lang="ja-JP" altLang="en-US" dirty="0"/>
              <a:t>これらの患者と追跡不能とを合わせて</a:t>
            </a:r>
            <a:r>
              <a:rPr kumimoji="1" lang="en-US" altLang="ja-JP" dirty="0"/>
              <a:t>, </a:t>
            </a:r>
            <a:r>
              <a:rPr kumimoji="1" lang="ja-JP" altLang="en-US" dirty="0"/>
              <a:t>打ち切り</a:t>
            </a:r>
            <a:r>
              <a:rPr kumimoji="1" lang="en-US" altLang="ja-JP" dirty="0"/>
              <a:t>censoring</a:t>
            </a:r>
            <a:r>
              <a:rPr kumimoji="1" lang="ja-JP" altLang="en-US" dirty="0"/>
              <a:t>と呼びます</a:t>
            </a:r>
            <a:r>
              <a:rPr kumimoji="1" lang="en-US" altLang="ja-JP" dirty="0"/>
              <a:t>. </a:t>
            </a:r>
            <a:r>
              <a:rPr kumimoji="1" lang="ja-JP" altLang="en-US" dirty="0"/>
              <a:t>打ち切りは</a:t>
            </a:r>
            <a:r>
              <a:rPr kumimoji="1" lang="en-US" altLang="ja-JP" dirty="0"/>
              <a:t>, </a:t>
            </a:r>
            <a:r>
              <a:rPr kumimoji="1" lang="ja-JP" altLang="en-US" dirty="0"/>
              <a:t>データの取り扱いを表す用語で</a:t>
            </a:r>
            <a:r>
              <a:rPr kumimoji="1" lang="en-US" altLang="ja-JP" dirty="0"/>
              <a:t>, </a:t>
            </a:r>
            <a:r>
              <a:rPr kumimoji="1" lang="ja-JP" altLang="en-US" dirty="0"/>
              <a:t>すべての対象者はイベントと打ち切りのどちらかのはずです</a:t>
            </a:r>
            <a:r>
              <a:rPr kumimoji="1" lang="en-US" altLang="ja-JP" dirty="0"/>
              <a:t>. </a:t>
            </a:r>
          </a:p>
        </p:txBody>
      </p:sp>
    </p:spTree>
    <p:extLst>
      <p:ext uri="{BB962C8B-B14F-4D97-AF65-F5344CB8AC3E}">
        <p14:creationId xmlns:p14="http://schemas.microsoft.com/office/powerpoint/2010/main" val="32444111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これを。イメージ図で表すとこうなります</a:t>
            </a:r>
            <a:r>
              <a:rPr kumimoji="1" lang="en-US" altLang="ja-JP" dirty="0"/>
              <a:t>. </a:t>
            </a:r>
            <a:r>
              <a:rPr kumimoji="1" lang="ja-JP" altLang="en-US" dirty="0"/>
              <a:t>この図では</a:t>
            </a:r>
            <a:r>
              <a:rPr kumimoji="1" lang="en-US" altLang="ja-JP" dirty="0"/>
              <a:t>, </a:t>
            </a:r>
            <a:r>
              <a:rPr kumimoji="1" lang="ja-JP" altLang="en-US" dirty="0"/>
              <a:t>リツキシマブ群</a:t>
            </a:r>
            <a:r>
              <a:rPr kumimoji="1" lang="en-US" altLang="ja-JP" dirty="0"/>
              <a:t>6</a:t>
            </a:r>
            <a:r>
              <a:rPr kumimoji="1" lang="ja-JP" altLang="en-US" dirty="0"/>
              <a:t>人</a:t>
            </a:r>
            <a:r>
              <a:rPr kumimoji="1" lang="en-US" altLang="ja-JP" dirty="0"/>
              <a:t>, </a:t>
            </a:r>
            <a:r>
              <a:rPr kumimoji="1" lang="ja-JP" altLang="en-US" dirty="0"/>
              <a:t>プラセボ群</a:t>
            </a:r>
            <a:r>
              <a:rPr kumimoji="1" lang="en-US" altLang="ja-JP" dirty="0"/>
              <a:t>7</a:t>
            </a:r>
            <a:r>
              <a:rPr kumimoji="1" lang="ja-JP" altLang="en-US" dirty="0"/>
              <a:t>人の</a:t>
            </a:r>
            <a:r>
              <a:rPr kumimoji="1" lang="en-US" altLang="ja-JP" dirty="0"/>
              <a:t>13</a:t>
            </a:r>
            <a:r>
              <a:rPr kumimoji="1" lang="ja-JP" altLang="en-US" dirty="0"/>
              <a:t>人の集団を</a:t>
            </a:r>
            <a:r>
              <a:rPr kumimoji="1" lang="en-US" altLang="ja-JP" dirty="0"/>
              <a:t>, 10</a:t>
            </a:r>
            <a:r>
              <a:rPr kumimoji="1" lang="ja-JP" altLang="en-US" dirty="0"/>
              <a:t>ヶ月間追跡した状況を表しています</a:t>
            </a:r>
            <a:r>
              <a:rPr kumimoji="1" lang="en-US" altLang="ja-JP" dirty="0"/>
              <a:t>. </a:t>
            </a:r>
            <a:r>
              <a:rPr kumimoji="1" lang="ja-JP" altLang="en-US" dirty="0"/>
              <a:t>リツキシマブ群では</a:t>
            </a:r>
            <a:r>
              <a:rPr kumimoji="1" lang="en-US" altLang="ja-JP" dirty="0"/>
              <a:t>1</a:t>
            </a:r>
            <a:r>
              <a:rPr kumimoji="1" lang="ja-JP" altLang="en-US" dirty="0"/>
              <a:t>人</a:t>
            </a:r>
            <a:r>
              <a:rPr kumimoji="1" lang="en-US" altLang="ja-JP" dirty="0"/>
              <a:t>, </a:t>
            </a:r>
            <a:r>
              <a:rPr kumimoji="1" lang="ja-JP" altLang="en-US" dirty="0"/>
              <a:t>プラセボ群では</a:t>
            </a:r>
            <a:r>
              <a:rPr kumimoji="1" lang="en-US" altLang="ja-JP" dirty="0"/>
              <a:t>4</a:t>
            </a:r>
            <a:r>
              <a:rPr kumimoji="1" lang="ja-JP" altLang="en-US" dirty="0"/>
              <a:t>人で再発が観察されましたが</a:t>
            </a:r>
            <a:r>
              <a:rPr kumimoji="1" lang="en-US" altLang="ja-JP" dirty="0"/>
              <a:t>, </a:t>
            </a:r>
            <a:r>
              <a:rPr kumimoji="1" lang="ja-JP" altLang="en-US" dirty="0"/>
              <a:t>追跡途中で</a:t>
            </a:r>
            <a:r>
              <a:rPr kumimoji="1" lang="en-US" altLang="ja-JP" dirty="0"/>
              <a:t>, </a:t>
            </a:r>
            <a:r>
              <a:rPr kumimoji="1" lang="ja-JP" altLang="en-US" dirty="0"/>
              <a:t>追跡不能になる患者もいますし</a:t>
            </a:r>
            <a:r>
              <a:rPr kumimoji="1" lang="en-US" altLang="ja-JP" dirty="0"/>
              <a:t>, 10</a:t>
            </a:r>
            <a:r>
              <a:rPr kumimoji="1" lang="ja-JP" altLang="en-US" dirty="0"/>
              <a:t>ヶ月経って試験が終了しても再発が起きていない患者もいるはずです</a:t>
            </a:r>
            <a:r>
              <a:rPr kumimoji="1" lang="en-US" altLang="ja-JP" dirty="0"/>
              <a:t>. </a:t>
            </a:r>
            <a:r>
              <a:rPr kumimoji="1" lang="ja-JP" altLang="en-US" dirty="0"/>
              <a:t>これらの患者と追跡不能とを合わせて</a:t>
            </a:r>
            <a:r>
              <a:rPr kumimoji="1" lang="en-US" altLang="ja-JP" dirty="0"/>
              <a:t>, </a:t>
            </a:r>
            <a:r>
              <a:rPr kumimoji="1" lang="ja-JP" altLang="en-US" dirty="0"/>
              <a:t>打ち切り</a:t>
            </a:r>
            <a:r>
              <a:rPr kumimoji="1" lang="en-US" altLang="ja-JP" dirty="0"/>
              <a:t>censoring</a:t>
            </a:r>
            <a:r>
              <a:rPr kumimoji="1" lang="ja-JP" altLang="en-US" dirty="0"/>
              <a:t>と呼びます</a:t>
            </a:r>
            <a:r>
              <a:rPr kumimoji="1" lang="en-US" altLang="ja-JP" dirty="0"/>
              <a:t>. </a:t>
            </a:r>
            <a:r>
              <a:rPr kumimoji="1" lang="ja-JP" altLang="en-US" dirty="0"/>
              <a:t>打ち切りは</a:t>
            </a:r>
            <a:r>
              <a:rPr kumimoji="1" lang="en-US" altLang="ja-JP" dirty="0"/>
              <a:t>, </a:t>
            </a:r>
            <a:r>
              <a:rPr kumimoji="1" lang="ja-JP" altLang="en-US" dirty="0"/>
              <a:t>データの取り扱いを表す用語で</a:t>
            </a:r>
            <a:r>
              <a:rPr kumimoji="1" lang="en-US" altLang="ja-JP" dirty="0"/>
              <a:t>, </a:t>
            </a:r>
            <a:r>
              <a:rPr kumimoji="1" lang="ja-JP" altLang="en-US" dirty="0"/>
              <a:t>すべての対象者はイベントと打ち切りのどちらかのはずです</a:t>
            </a:r>
            <a:r>
              <a:rPr kumimoji="1" lang="en-US" altLang="ja-JP" dirty="0"/>
              <a:t>. </a:t>
            </a:r>
          </a:p>
        </p:txBody>
      </p:sp>
    </p:spTree>
    <p:extLst>
      <p:ext uri="{BB962C8B-B14F-4D97-AF65-F5344CB8AC3E}">
        <p14:creationId xmlns:p14="http://schemas.microsoft.com/office/powerpoint/2010/main" val="32537040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この図はバイアスとバラツキを説明したものですが</a:t>
            </a:r>
            <a:r>
              <a:rPr kumimoji="1" lang="en-US" altLang="ja-JP" dirty="0"/>
              <a:t>, </a:t>
            </a:r>
            <a:r>
              <a:rPr kumimoji="1" lang="ja-JP" altLang="en-US" dirty="0"/>
              <a:t>瀬川さん</a:t>
            </a:r>
            <a:r>
              <a:rPr kumimoji="1" lang="en-US" altLang="ja-JP" dirty="0"/>
              <a:t>,</a:t>
            </a:r>
            <a:r>
              <a:rPr kumimoji="1" lang="ja-JP" altLang="en-US" dirty="0"/>
              <a:t>バイアスってなんでしたっけ</a:t>
            </a:r>
            <a:r>
              <a:rPr kumimoji="1" lang="en-US" altLang="ja-JP"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不偏性と有効性は</a:t>
            </a:r>
            <a:r>
              <a:rPr kumimoji="1" lang="en-US" altLang="ja-JP" dirty="0"/>
              <a:t>, </a:t>
            </a:r>
            <a:r>
              <a:rPr kumimoji="1" lang="ja-JP" altLang="en-US" dirty="0"/>
              <a:t>特定の確率分布を仮定して</a:t>
            </a:r>
            <a:r>
              <a:rPr kumimoji="1" lang="en-US" altLang="ja-JP" dirty="0"/>
              <a:t>, </a:t>
            </a:r>
            <a:r>
              <a:rPr kumimoji="1" lang="ja-JP" altLang="en-US" dirty="0"/>
              <a:t>その状況で性能が保たれているかを調べることが普通です</a:t>
            </a:r>
            <a:r>
              <a:rPr kumimoji="1" lang="en-US" altLang="ja-JP" dirty="0"/>
              <a:t>. </a:t>
            </a:r>
            <a:r>
              <a:rPr kumimoji="1" lang="ja-JP" altLang="en-US" dirty="0"/>
              <a:t>ただし</a:t>
            </a:r>
            <a:r>
              <a:rPr kumimoji="1" lang="en-US" altLang="ja-JP" dirty="0"/>
              <a:t>, </a:t>
            </a:r>
            <a:r>
              <a:rPr kumimoji="1" lang="ja-JP" altLang="en-US" dirty="0"/>
              <a:t>現実のデータでは</a:t>
            </a:r>
            <a:r>
              <a:rPr kumimoji="1" lang="en-US" altLang="ja-JP" dirty="0"/>
              <a:t>, </a:t>
            </a:r>
            <a:r>
              <a:rPr kumimoji="1" lang="ja-JP" altLang="en-US" dirty="0"/>
              <a:t>理論的評価の前提条件が成り立っているとは限りません</a:t>
            </a:r>
            <a:r>
              <a:rPr kumimoji="1" lang="en-US" altLang="ja-JP" dirty="0"/>
              <a:t>. </a:t>
            </a:r>
            <a:r>
              <a:rPr kumimoji="1" lang="ja-JP" altLang="en-US" dirty="0"/>
              <a:t>そこで</a:t>
            </a:r>
            <a:r>
              <a:rPr kumimoji="1" lang="en-US" altLang="ja-JP" dirty="0"/>
              <a:t>, </a:t>
            </a:r>
            <a:r>
              <a:rPr kumimoji="1" lang="ja-JP" altLang="en-US" dirty="0"/>
              <a:t>出てくるのが頑健性という第三の基準です</a:t>
            </a:r>
            <a:r>
              <a:rPr kumimoji="1" lang="en-US" altLang="ja-JP" dirty="0"/>
              <a:t>. </a:t>
            </a:r>
            <a:r>
              <a:rPr kumimoji="1" lang="ja-JP" altLang="en-US" dirty="0"/>
              <a:t>これは</a:t>
            </a:r>
            <a:r>
              <a:rPr kumimoji="1" lang="en-US" altLang="ja-JP" dirty="0"/>
              <a:t>,</a:t>
            </a:r>
            <a:r>
              <a:rPr kumimoji="1" lang="ja-JP" altLang="en-US" dirty="0"/>
              <a:t> 前提条件が満たされなくても</a:t>
            </a:r>
            <a:r>
              <a:rPr kumimoji="1" lang="en-US" altLang="ja-JP" dirty="0"/>
              <a:t>, </a:t>
            </a:r>
            <a:r>
              <a:rPr kumimoji="1" lang="ja-JP" altLang="en-US" dirty="0"/>
              <a:t>それほど性能が悪くならないことを意味します</a:t>
            </a:r>
            <a:r>
              <a:rPr kumimoji="1" lang="en-US" altLang="ja-JP" dirty="0"/>
              <a:t>. </a:t>
            </a:r>
            <a:r>
              <a:rPr kumimoji="1" lang="ja-JP" altLang="en-US" dirty="0"/>
              <a:t>最尤推定量の弱点は</a:t>
            </a:r>
            <a:r>
              <a:rPr kumimoji="1" lang="en-US" altLang="ja-JP" dirty="0"/>
              <a:t>, </a:t>
            </a:r>
            <a:r>
              <a:rPr kumimoji="1" lang="ja-JP" altLang="en-US" dirty="0"/>
              <a:t>あまり頑健ではないという点です</a:t>
            </a:r>
            <a:r>
              <a:rPr kumimoji="1" lang="en-US" altLang="ja-JP" dirty="0"/>
              <a:t>. </a:t>
            </a:r>
            <a:endParaRPr kumimoji="1" lang="ja-JP" altLang="en-US" dirty="0"/>
          </a:p>
        </p:txBody>
      </p:sp>
    </p:spTree>
    <p:extLst>
      <p:ext uri="{BB962C8B-B14F-4D97-AF65-F5344CB8AC3E}">
        <p14:creationId xmlns:p14="http://schemas.microsoft.com/office/powerpoint/2010/main" val="16548658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この図はバイアスとバラツキを説明したものですが</a:t>
            </a:r>
            <a:r>
              <a:rPr kumimoji="1" lang="en-US" altLang="ja-JP" dirty="0"/>
              <a:t>, </a:t>
            </a:r>
            <a:r>
              <a:rPr kumimoji="1" lang="ja-JP" altLang="en-US" dirty="0"/>
              <a:t>瀬川さん</a:t>
            </a:r>
            <a:r>
              <a:rPr kumimoji="1" lang="en-US" altLang="ja-JP" dirty="0"/>
              <a:t>,</a:t>
            </a:r>
            <a:r>
              <a:rPr kumimoji="1" lang="ja-JP" altLang="en-US" dirty="0"/>
              <a:t>バイアスってなんでしたっけ</a:t>
            </a:r>
            <a:r>
              <a:rPr kumimoji="1" lang="en-US" altLang="ja-JP"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不偏性と有効性は</a:t>
            </a:r>
            <a:r>
              <a:rPr kumimoji="1" lang="en-US" altLang="ja-JP" dirty="0"/>
              <a:t>, </a:t>
            </a:r>
            <a:r>
              <a:rPr kumimoji="1" lang="ja-JP" altLang="en-US" dirty="0"/>
              <a:t>特定の確率分布を仮定して</a:t>
            </a:r>
            <a:r>
              <a:rPr kumimoji="1" lang="en-US" altLang="ja-JP" dirty="0"/>
              <a:t>, </a:t>
            </a:r>
            <a:r>
              <a:rPr kumimoji="1" lang="ja-JP" altLang="en-US" dirty="0"/>
              <a:t>その状況で性能が保たれているかを調べることが普通です</a:t>
            </a:r>
            <a:r>
              <a:rPr kumimoji="1" lang="en-US" altLang="ja-JP" dirty="0"/>
              <a:t>. </a:t>
            </a:r>
            <a:r>
              <a:rPr kumimoji="1" lang="ja-JP" altLang="en-US" dirty="0"/>
              <a:t>ただし</a:t>
            </a:r>
            <a:r>
              <a:rPr kumimoji="1" lang="en-US" altLang="ja-JP" dirty="0"/>
              <a:t>, </a:t>
            </a:r>
            <a:r>
              <a:rPr kumimoji="1" lang="ja-JP" altLang="en-US" dirty="0"/>
              <a:t>現実のデータでは</a:t>
            </a:r>
            <a:r>
              <a:rPr kumimoji="1" lang="en-US" altLang="ja-JP" dirty="0"/>
              <a:t>, </a:t>
            </a:r>
            <a:r>
              <a:rPr kumimoji="1" lang="ja-JP" altLang="en-US" dirty="0"/>
              <a:t>理論的評価の前提条件が成り立っているとは限りません</a:t>
            </a:r>
            <a:r>
              <a:rPr kumimoji="1" lang="en-US" altLang="ja-JP" dirty="0"/>
              <a:t>. </a:t>
            </a:r>
            <a:r>
              <a:rPr kumimoji="1" lang="ja-JP" altLang="en-US" dirty="0"/>
              <a:t>そこで</a:t>
            </a:r>
            <a:r>
              <a:rPr kumimoji="1" lang="en-US" altLang="ja-JP" dirty="0"/>
              <a:t>, </a:t>
            </a:r>
            <a:r>
              <a:rPr kumimoji="1" lang="ja-JP" altLang="en-US" dirty="0"/>
              <a:t>出てくるのが頑健性という第三の基準です</a:t>
            </a:r>
            <a:r>
              <a:rPr kumimoji="1" lang="en-US" altLang="ja-JP" dirty="0"/>
              <a:t>. </a:t>
            </a:r>
            <a:r>
              <a:rPr kumimoji="1" lang="ja-JP" altLang="en-US" dirty="0"/>
              <a:t>これは</a:t>
            </a:r>
            <a:r>
              <a:rPr kumimoji="1" lang="en-US" altLang="ja-JP" dirty="0"/>
              <a:t>,</a:t>
            </a:r>
            <a:r>
              <a:rPr kumimoji="1" lang="ja-JP" altLang="en-US" dirty="0"/>
              <a:t> 前提条件が満たされなくても</a:t>
            </a:r>
            <a:r>
              <a:rPr kumimoji="1" lang="en-US" altLang="ja-JP" dirty="0"/>
              <a:t>, </a:t>
            </a:r>
            <a:r>
              <a:rPr kumimoji="1" lang="ja-JP" altLang="en-US" dirty="0"/>
              <a:t>それほど性能が悪くならないことを意味します</a:t>
            </a:r>
            <a:r>
              <a:rPr kumimoji="1" lang="en-US" altLang="ja-JP" dirty="0"/>
              <a:t>. </a:t>
            </a:r>
            <a:r>
              <a:rPr kumimoji="1" lang="ja-JP" altLang="en-US" dirty="0"/>
              <a:t>最尤推定量の弱点は</a:t>
            </a:r>
            <a:r>
              <a:rPr kumimoji="1" lang="en-US" altLang="ja-JP" dirty="0"/>
              <a:t>, </a:t>
            </a:r>
            <a:r>
              <a:rPr kumimoji="1" lang="ja-JP" altLang="en-US" dirty="0"/>
              <a:t>あまり頑健ではないという点です</a:t>
            </a:r>
            <a:r>
              <a:rPr kumimoji="1" lang="en-US" altLang="ja-JP" dirty="0"/>
              <a:t>. </a:t>
            </a:r>
            <a:endParaRPr kumimoji="1" lang="ja-JP" altLang="en-US" dirty="0"/>
          </a:p>
        </p:txBody>
      </p:sp>
    </p:spTree>
    <p:extLst>
      <p:ext uri="{BB962C8B-B14F-4D97-AF65-F5344CB8AC3E}">
        <p14:creationId xmlns:p14="http://schemas.microsoft.com/office/powerpoint/2010/main" val="1831702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1BAD299B-751B-4731-AD21-9DC2C1017E53}" type="datetime1">
              <a:rPr kumimoji="1" lang="ja-JP" altLang="en-US" smtClean="0"/>
              <a:t>2025/12/16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4C716446-2BA7-46D5-B257-208E5A0D381C}" type="slidenum">
              <a:rPr kumimoji="1" lang="ja-JP" altLang="en-US" smtClean="0"/>
              <a:t>‹#›</a:t>
            </a:fld>
            <a:endParaRPr kumimoji="1" lang="ja-JP" altLang="en-US"/>
          </a:p>
        </p:txBody>
      </p:sp>
    </p:spTree>
    <p:extLst>
      <p:ext uri="{BB962C8B-B14F-4D97-AF65-F5344CB8AC3E}">
        <p14:creationId xmlns:p14="http://schemas.microsoft.com/office/powerpoint/2010/main" val="9104890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68EB84EE-A891-4F07-8871-C4470CFD0FF1}" type="datetime1">
              <a:rPr kumimoji="1" lang="ja-JP" altLang="en-US" smtClean="0"/>
              <a:t>2025/12/16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lvl1pPr algn="l">
              <a:defRPr sz="2400"/>
            </a:lvl1pPr>
          </a:lstStyle>
          <a:p>
            <a:fld id="{4C716446-2BA7-46D5-B257-208E5A0D381C}" type="slidenum">
              <a:rPr kumimoji="1" lang="ja-JP" altLang="en-US" smtClean="0"/>
              <a:pPr/>
              <a:t>‹#›</a:t>
            </a:fld>
            <a:endParaRPr kumimoji="1" lang="ja-JP" altLang="en-US" dirty="0"/>
          </a:p>
        </p:txBody>
      </p:sp>
    </p:spTree>
    <p:extLst>
      <p:ext uri="{BB962C8B-B14F-4D97-AF65-F5344CB8AC3E}">
        <p14:creationId xmlns:p14="http://schemas.microsoft.com/office/powerpoint/2010/main" val="29230934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45252D1A-274F-4102-8B15-AD8DC953D2C7}" type="datetime1">
              <a:rPr kumimoji="1" lang="ja-JP" altLang="en-US" smtClean="0"/>
              <a:t>2025/12/16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4C716446-2BA7-46D5-B257-208E5A0D381C}" type="slidenum">
              <a:rPr kumimoji="1" lang="ja-JP" altLang="en-US" smtClean="0"/>
              <a:t>‹#›</a:t>
            </a:fld>
            <a:endParaRPr kumimoji="1" lang="ja-JP" altLang="en-US"/>
          </a:p>
        </p:txBody>
      </p:sp>
    </p:spTree>
    <p:extLst>
      <p:ext uri="{BB962C8B-B14F-4D97-AF65-F5344CB8AC3E}">
        <p14:creationId xmlns:p14="http://schemas.microsoft.com/office/powerpoint/2010/main" val="2209414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38DCD836-DAE2-4A40-B431-0F393AE4FC24}" type="datetime1">
              <a:rPr kumimoji="1" lang="ja-JP" altLang="en-US" smtClean="0"/>
              <a:t>2025/12/16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4C716446-2BA7-46D5-B257-208E5A0D381C}" type="slidenum">
              <a:rPr kumimoji="1" lang="ja-JP" altLang="en-US" smtClean="0"/>
              <a:t>‹#›</a:t>
            </a:fld>
            <a:endParaRPr kumimoji="1" lang="ja-JP" altLang="en-US"/>
          </a:p>
        </p:txBody>
      </p:sp>
    </p:spTree>
    <p:extLst>
      <p:ext uri="{BB962C8B-B14F-4D97-AF65-F5344CB8AC3E}">
        <p14:creationId xmlns:p14="http://schemas.microsoft.com/office/powerpoint/2010/main" val="31444935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55AE37B1-1636-48E5-80B7-5E03643C31B1}" type="datetime1">
              <a:rPr kumimoji="1" lang="ja-JP" altLang="en-US" smtClean="0"/>
              <a:t>2025/12/16</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4C716446-2BA7-46D5-B257-208E5A0D381C}" type="slidenum">
              <a:rPr kumimoji="1" lang="ja-JP" altLang="en-US" smtClean="0"/>
              <a:t>‹#›</a:t>
            </a:fld>
            <a:endParaRPr kumimoji="1" lang="ja-JP" altLang="en-US"/>
          </a:p>
        </p:txBody>
      </p:sp>
    </p:spTree>
    <p:extLst>
      <p:ext uri="{BB962C8B-B14F-4D97-AF65-F5344CB8AC3E}">
        <p14:creationId xmlns:p14="http://schemas.microsoft.com/office/powerpoint/2010/main" val="34453954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12B8721D-7754-4004-84A0-E51BF855B424}" type="datetime1">
              <a:rPr kumimoji="1" lang="ja-JP" altLang="en-US" smtClean="0"/>
              <a:t>2025/12/16</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4C716446-2BA7-46D5-B257-208E5A0D381C}" type="slidenum">
              <a:rPr kumimoji="1" lang="ja-JP" altLang="en-US" smtClean="0"/>
              <a:t>‹#›</a:t>
            </a:fld>
            <a:endParaRPr kumimoji="1" lang="ja-JP" altLang="en-US"/>
          </a:p>
        </p:txBody>
      </p:sp>
    </p:spTree>
    <p:extLst>
      <p:ext uri="{BB962C8B-B14F-4D97-AF65-F5344CB8AC3E}">
        <p14:creationId xmlns:p14="http://schemas.microsoft.com/office/powerpoint/2010/main" val="4178397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D32274-35AD-4A17-AAFD-0D8B112E1B64}" type="datetime1">
              <a:rPr kumimoji="1" lang="ja-JP" altLang="en-US" smtClean="0"/>
              <a:t>2025/12/16</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4C716446-2BA7-46D5-B257-208E5A0D381C}" type="slidenum">
              <a:rPr kumimoji="1" lang="ja-JP" altLang="en-US" smtClean="0"/>
              <a:t>‹#›</a:t>
            </a:fld>
            <a:endParaRPr kumimoji="1" lang="ja-JP" altLang="en-US"/>
          </a:p>
        </p:txBody>
      </p:sp>
    </p:spTree>
    <p:extLst>
      <p:ext uri="{BB962C8B-B14F-4D97-AF65-F5344CB8AC3E}">
        <p14:creationId xmlns:p14="http://schemas.microsoft.com/office/powerpoint/2010/main" val="1733258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FE370901-7A47-4744-A026-99CF4CA4812F}" type="datetime1">
              <a:rPr kumimoji="1" lang="ja-JP" altLang="en-US" smtClean="0"/>
              <a:t>2025/12/16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4C716446-2BA7-46D5-B257-208E5A0D381C}" type="slidenum">
              <a:rPr kumimoji="1" lang="ja-JP" altLang="en-US" smtClean="0"/>
              <a:t>‹#›</a:t>
            </a:fld>
            <a:endParaRPr kumimoji="1" lang="ja-JP" altLang="en-US"/>
          </a:p>
        </p:txBody>
      </p:sp>
    </p:spTree>
    <p:extLst>
      <p:ext uri="{BB962C8B-B14F-4D97-AF65-F5344CB8AC3E}">
        <p14:creationId xmlns:p14="http://schemas.microsoft.com/office/powerpoint/2010/main" val="283321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図を追加</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E2B78150-896F-4C27-B593-52DC7ACF678C}" type="datetime1">
              <a:rPr kumimoji="1" lang="ja-JP" altLang="en-US" smtClean="0"/>
              <a:t>2025/12/16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4C716446-2BA7-46D5-B257-208E5A0D381C}" type="slidenum">
              <a:rPr kumimoji="1" lang="ja-JP" altLang="en-US" smtClean="0"/>
              <a:t>‹#›</a:t>
            </a:fld>
            <a:endParaRPr kumimoji="1" lang="ja-JP" altLang="en-US"/>
          </a:p>
        </p:txBody>
      </p:sp>
    </p:spTree>
    <p:extLst>
      <p:ext uri="{BB962C8B-B14F-4D97-AF65-F5344CB8AC3E}">
        <p14:creationId xmlns:p14="http://schemas.microsoft.com/office/powerpoint/2010/main" val="17876721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75A955ED-11FE-4306-9C43-83A4B8AA03DE}" type="datetime1">
              <a:rPr kumimoji="1" lang="ja-JP" altLang="en-US" smtClean="0"/>
              <a:t>2025/12/16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4C716446-2BA7-46D5-B257-208E5A0D381C}" type="slidenum">
              <a:rPr kumimoji="1" lang="ja-JP" altLang="en-US" smtClean="0"/>
              <a:t>‹#›</a:t>
            </a:fld>
            <a:endParaRPr kumimoji="1" lang="ja-JP" altLang="en-US"/>
          </a:p>
        </p:txBody>
      </p:sp>
    </p:spTree>
    <p:extLst>
      <p:ext uri="{BB962C8B-B14F-4D97-AF65-F5344CB8AC3E}">
        <p14:creationId xmlns:p14="http://schemas.microsoft.com/office/powerpoint/2010/main" val="27921526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ED250500-BF64-47ED-B668-BC5D3B642C4E}" type="datetime1">
              <a:rPr kumimoji="1" lang="ja-JP" altLang="en-US" smtClean="0"/>
              <a:t>2025/12/16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4C716446-2BA7-46D5-B257-208E5A0D381C}" type="slidenum">
              <a:rPr kumimoji="1" lang="ja-JP" altLang="en-US" smtClean="0"/>
              <a:t>‹#›</a:t>
            </a:fld>
            <a:endParaRPr kumimoji="1" lang="ja-JP" altLang="en-US"/>
          </a:p>
        </p:txBody>
      </p:sp>
    </p:spTree>
    <p:extLst>
      <p:ext uri="{BB962C8B-B14F-4D97-AF65-F5344CB8AC3E}">
        <p14:creationId xmlns:p14="http://schemas.microsoft.com/office/powerpoint/2010/main" val="34512362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7ED58B-062B-4EF4-B618-E8F931727DCC}" type="datetime1">
              <a:rPr kumimoji="1" lang="ja-JP" altLang="en-US" smtClean="0"/>
              <a:t>2025/12/16</a:t>
            </a:fld>
            <a:endParaRPr kumimoji="1" lang="ja-JP"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716446-2BA7-46D5-B257-208E5A0D381C}" type="slidenum">
              <a:rPr kumimoji="1" lang="ja-JP" altLang="en-US" smtClean="0"/>
              <a:t>‹#›</a:t>
            </a:fld>
            <a:endParaRPr kumimoji="1" lang="ja-JP" altLang="en-US"/>
          </a:p>
        </p:txBody>
      </p:sp>
    </p:spTree>
    <p:extLst>
      <p:ext uri="{BB962C8B-B14F-4D97-AF65-F5344CB8AC3E}">
        <p14:creationId xmlns:p14="http://schemas.microsoft.com/office/powerpoint/2010/main" val="37304298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グループ化 1">
            <a:extLst>
              <a:ext uri="{FF2B5EF4-FFF2-40B4-BE49-F238E27FC236}">
                <a16:creationId xmlns:a16="http://schemas.microsoft.com/office/drawing/2014/main" id="{67DAADA6-8D43-4133-B07F-C81BB3EF4617}"/>
              </a:ext>
            </a:extLst>
          </p:cNvPr>
          <p:cNvGrpSpPr/>
          <p:nvPr/>
        </p:nvGrpSpPr>
        <p:grpSpPr>
          <a:xfrm>
            <a:off x="1498529" y="1628776"/>
            <a:ext cx="8796670" cy="4966134"/>
            <a:chOff x="1498529" y="1628776"/>
            <a:chExt cx="8796670" cy="4966134"/>
          </a:xfrm>
        </p:grpSpPr>
        <p:cxnSp>
          <p:nvCxnSpPr>
            <p:cNvPr id="52" name="直線コネクタ 51">
              <a:extLst>
                <a:ext uri="{FF2B5EF4-FFF2-40B4-BE49-F238E27FC236}">
                  <a16:creationId xmlns:a16="http://schemas.microsoft.com/office/drawing/2014/main" id="{38E5DF9A-BFE9-4A81-A044-F7D094438301}"/>
                </a:ext>
              </a:extLst>
            </p:cNvPr>
            <p:cNvCxnSpPr/>
            <p:nvPr/>
          </p:nvCxnSpPr>
          <p:spPr>
            <a:xfrm>
              <a:off x="2185805" y="5428173"/>
              <a:ext cx="1871663" cy="1587"/>
            </a:xfrm>
            <a:prstGeom prst="line">
              <a:avLst/>
            </a:prstGeom>
            <a:ln w="25400">
              <a:solidFill>
                <a:srgbClr val="66A1D7"/>
              </a:solidFill>
            </a:ln>
          </p:spPr>
          <p:style>
            <a:lnRef idx="1">
              <a:schemeClr val="accent1"/>
            </a:lnRef>
            <a:fillRef idx="0">
              <a:schemeClr val="accent1"/>
            </a:fillRef>
            <a:effectRef idx="0">
              <a:schemeClr val="accent1"/>
            </a:effectRef>
            <a:fontRef idx="minor">
              <a:schemeClr val="tx1"/>
            </a:fontRef>
          </p:style>
        </p:cxnSp>
        <p:sp>
          <p:nvSpPr>
            <p:cNvPr id="4" name="正方形/長方形 3"/>
            <p:cNvSpPr/>
            <p:nvPr/>
          </p:nvSpPr>
          <p:spPr>
            <a:xfrm>
              <a:off x="2180889" y="1628776"/>
              <a:ext cx="5521325" cy="4214813"/>
            </a:xfrm>
            <a:prstGeom prst="rect">
              <a:avLst/>
            </a:prstGeom>
            <a:solidFill>
              <a:schemeClr val="accent1">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3600">
                <a:solidFill>
                  <a:schemeClr val="tx1"/>
                </a:solidFill>
                <a:latin typeface="Times New Roman" panose="02020603050405020304" pitchFamily="18" charset="0"/>
                <a:cs typeface="Times New Roman" panose="02020603050405020304" pitchFamily="18" charset="0"/>
              </a:endParaRPr>
            </a:p>
          </p:txBody>
        </p:sp>
        <p:sp>
          <p:nvSpPr>
            <p:cNvPr id="5" name="テキスト ボックス 28"/>
            <p:cNvSpPr txBox="1">
              <a:spLocks noChangeArrowheads="1"/>
            </p:cNvSpPr>
            <p:nvPr/>
          </p:nvSpPr>
          <p:spPr bwMode="auto">
            <a:xfrm>
              <a:off x="1498529" y="6194800"/>
              <a:ext cx="1390701" cy="400110"/>
            </a:xfrm>
            <a:prstGeom prst="rect">
              <a:avLst/>
            </a:prstGeom>
            <a:noFill/>
            <a:ln w="9525">
              <a:noFill/>
              <a:miter lim="800000"/>
              <a:headEnd/>
              <a:tailEnd/>
            </a:ln>
          </p:spPr>
          <p:txBody>
            <a:bodyPr wrap="none">
              <a:spAutoFit/>
            </a:bodyPr>
            <a:lstStyle/>
            <a:p>
              <a:pPr algn="ctr"/>
              <a:r>
                <a:rPr lang="en-US" altLang="ja-JP" sz="2000" dirty="0">
                  <a:latin typeface="Times New Roman" panose="02020603050405020304" pitchFamily="18" charset="0"/>
                  <a:cs typeface="Times New Roman" panose="02020603050405020304" pitchFamily="18" charset="0"/>
                </a:rPr>
                <a:t>Time origin</a:t>
              </a:r>
            </a:p>
          </p:txBody>
        </p:sp>
        <p:cxnSp>
          <p:nvCxnSpPr>
            <p:cNvPr id="8" name="直線コネクタ 7"/>
            <p:cNvCxnSpPr/>
            <p:nvPr/>
          </p:nvCxnSpPr>
          <p:spPr>
            <a:xfrm>
              <a:off x="2180889" y="3429000"/>
              <a:ext cx="3240088"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円/楕円 9"/>
            <p:cNvSpPr/>
            <p:nvPr/>
          </p:nvSpPr>
          <p:spPr>
            <a:xfrm>
              <a:off x="3987465" y="5357814"/>
              <a:ext cx="142875" cy="1428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3600">
                <a:solidFill>
                  <a:schemeClr val="tx1"/>
                </a:solidFill>
                <a:latin typeface="Times New Roman" panose="02020603050405020304" pitchFamily="18" charset="0"/>
                <a:cs typeface="Times New Roman" panose="02020603050405020304" pitchFamily="18" charset="0"/>
              </a:endParaRPr>
            </a:p>
          </p:txBody>
        </p:sp>
        <p:cxnSp>
          <p:nvCxnSpPr>
            <p:cNvPr id="11" name="直線コネクタ 10"/>
            <p:cNvCxnSpPr/>
            <p:nvPr/>
          </p:nvCxnSpPr>
          <p:spPr>
            <a:xfrm>
              <a:off x="2187239" y="3996583"/>
              <a:ext cx="5500687" cy="1587"/>
            </a:xfrm>
            <a:prstGeom prst="line">
              <a:avLst/>
            </a:prstGeom>
            <a:ln w="25400">
              <a:solidFill>
                <a:srgbClr val="66A1D7"/>
              </a:solidFill>
            </a:ln>
          </p:spPr>
          <p:style>
            <a:lnRef idx="1">
              <a:schemeClr val="accent1"/>
            </a:lnRef>
            <a:fillRef idx="0">
              <a:schemeClr val="accent1"/>
            </a:fillRef>
            <a:effectRef idx="0">
              <a:schemeClr val="accent1"/>
            </a:effectRef>
            <a:fontRef idx="minor">
              <a:schemeClr val="tx1"/>
            </a:fontRef>
          </p:style>
        </p:cxnSp>
        <p:cxnSp>
          <p:nvCxnSpPr>
            <p:cNvPr id="12" name="直線コネクタ 11"/>
            <p:cNvCxnSpPr/>
            <p:nvPr/>
          </p:nvCxnSpPr>
          <p:spPr>
            <a:xfrm>
              <a:off x="2187239" y="2000250"/>
              <a:ext cx="1857375" cy="1588"/>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3" name="円/楕円 12"/>
            <p:cNvSpPr/>
            <p:nvPr/>
          </p:nvSpPr>
          <p:spPr>
            <a:xfrm>
              <a:off x="3987465" y="1928814"/>
              <a:ext cx="142875" cy="1428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3600">
                <a:solidFill>
                  <a:schemeClr val="tx1"/>
                </a:solidFill>
                <a:latin typeface="Times New Roman" panose="02020603050405020304" pitchFamily="18" charset="0"/>
                <a:cs typeface="Times New Roman" panose="02020603050405020304" pitchFamily="18" charset="0"/>
              </a:endParaRPr>
            </a:p>
          </p:txBody>
        </p:sp>
        <p:cxnSp>
          <p:nvCxnSpPr>
            <p:cNvPr id="14" name="直線コネクタ 13"/>
            <p:cNvCxnSpPr/>
            <p:nvPr/>
          </p:nvCxnSpPr>
          <p:spPr>
            <a:xfrm>
              <a:off x="2180889" y="2276475"/>
              <a:ext cx="3024188"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5" name="直線コネクタ 14"/>
            <p:cNvCxnSpPr/>
            <p:nvPr/>
          </p:nvCxnSpPr>
          <p:spPr>
            <a:xfrm>
              <a:off x="2187238" y="3143250"/>
              <a:ext cx="5143500" cy="1588"/>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6" name="直線コネクタ 15"/>
            <p:cNvCxnSpPr/>
            <p:nvPr/>
          </p:nvCxnSpPr>
          <p:spPr>
            <a:xfrm>
              <a:off x="2187238" y="3712419"/>
              <a:ext cx="4857750" cy="1588"/>
            </a:xfrm>
            <a:prstGeom prst="line">
              <a:avLst/>
            </a:prstGeom>
            <a:ln w="25400">
              <a:solidFill>
                <a:srgbClr val="66A1D7"/>
              </a:solidFill>
            </a:ln>
          </p:spPr>
          <p:style>
            <a:lnRef idx="1">
              <a:schemeClr val="accent1"/>
            </a:lnRef>
            <a:fillRef idx="0">
              <a:schemeClr val="accent1"/>
            </a:fillRef>
            <a:effectRef idx="0">
              <a:schemeClr val="accent1"/>
            </a:effectRef>
            <a:fontRef idx="minor">
              <a:schemeClr val="tx1"/>
            </a:fontRef>
          </p:style>
        </p:cxnSp>
        <p:cxnSp>
          <p:nvCxnSpPr>
            <p:cNvPr id="17" name="直線コネクタ 16"/>
            <p:cNvCxnSpPr/>
            <p:nvPr/>
          </p:nvCxnSpPr>
          <p:spPr>
            <a:xfrm>
              <a:off x="2180889" y="2565400"/>
              <a:ext cx="5111750"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7" name="直線コネクタ 26"/>
            <p:cNvCxnSpPr/>
            <p:nvPr/>
          </p:nvCxnSpPr>
          <p:spPr>
            <a:xfrm>
              <a:off x="2180890" y="2852738"/>
              <a:ext cx="2879725"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8" name="直線コネクタ 27"/>
            <p:cNvCxnSpPr/>
            <p:nvPr/>
          </p:nvCxnSpPr>
          <p:spPr>
            <a:xfrm>
              <a:off x="2180890" y="4292600"/>
              <a:ext cx="3095625" cy="0"/>
            </a:xfrm>
            <a:prstGeom prst="line">
              <a:avLst/>
            </a:prstGeom>
            <a:ln w="25400">
              <a:solidFill>
                <a:srgbClr val="66A1D7"/>
              </a:solidFill>
            </a:ln>
          </p:spPr>
          <p:style>
            <a:lnRef idx="1">
              <a:schemeClr val="accent1"/>
            </a:lnRef>
            <a:fillRef idx="0">
              <a:schemeClr val="accent1"/>
            </a:fillRef>
            <a:effectRef idx="0">
              <a:schemeClr val="accent1"/>
            </a:effectRef>
            <a:fontRef idx="minor">
              <a:schemeClr val="tx1"/>
            </a:fontRef>
          </p:style>
        </p:cxnSp>
        <p:cxnSp>
          <p:nvCxnSpPr>
            <p:cNvPr id="29" name="直線コネクタ 28"/>
            <p:cNvCxnSpPr>
              <a:endCxn id="30" idx="2"/>
            </p:cNvCxnSpPr>
            <p:nvPr/>
          </p:nvCxnSpPr>
          <p:spPr>
            <a:xfrm>
              <a:off x="2179303" y="4868863"/>
              <a:ext cx="3743325" cy="0"/>
            </a:xfrm>
            <a:prstGeom prst="line">
              <a:avLst/>
            </a:prstGeom>
            <a:ln w="25400">
              <a:solidFill>
                <a:srgbClr val="66A1D7"/>
              </a:solidFill>
            </a:ln>
          </p:spPr>
          <p:style>
            <a:lnRef idx="1">
              <a:schemeClr val="accent1"/>
            </a:lnRef>
            <a:fillRef idx="0">
              <a:schemeClr val="accent1"/>
            </a:fillRef>
            <a:effectRef idx="0">
              <a:schemeClr val="accent1"/>
            </a:effectRef>
            <a:fontRef idx="minor">
              <a:schemeClr val="tx1"/>
            </a:fontRef>
          </p:style>
        </p:cxnSp>
        <p:sp>
          <p:nvSpPr>
            <p:cNvPr id="30" name="円/楕円 29"/>
            <p:cNvSpPr/>
            <p:nvPr/>
          </p:nvSpPr>
          <p:spPr>
            <a:xfrm>
              <a:off x="5852778" y="4797426"/>
              <a:ext cx="142875" cy="1428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3600">
                <a:solidFill>
                  <a:schemeClr val="tx1"/>
                </a:solidFill>
                <a:latin typeface="Times New Roman" panose="02020603050405020304" pitchFamily="18" charset="0"/>
                <a:cs typeface="Times New Roman" panose="02020603050405020304" pitchFamily="18" charset="0"/>
              </a:endParaRPr>
            </a:p>
          </p:txBody>
        </p:sp>
        <p:cxnSp>
          <p:nvCxnSpPr>
            <p:cNvPr id="31" name="直線コネクタ 30"/>
            <p:cNvCxnSpPr/>
            <p:nvPr/>
          </p:nvCxnSpPr>
          <p:spPr>
            <a:xfrm>
              <a:off x="2180890" y="4581525"/>
              <a:ext cx="2786063" cy="1588"/>
            </a:xfrm>
            <a:prstGeom prst="line">
              <a:avLst/>
            </a:prstGeom>
            <a:ln w="25400">
              <a:solidFill>
                <a:srgbClr val="66A1D7"/>
              </a:solidFill>
            </a:ln>
          </p:spPr>
          <p:style>
            <a:lnRef idx="1">
              <a:schemeClr val="accent1"/>
            </a:lnRef>
            <a:fillRef idx="0">
              <a:schemeClr val="accent1"/>
            </a:fillRef>
            <a:effectRef idx="0">
              <a:schemeClr val="accent1"/>
            </a:effectRef>
            <a:fontRef idx="minor">
              <a:schemeClr val="tx1"/>
            </a:fontRef>
          </p:style>
        </p:cxnSp>
        <p:sp>
          <p:nvSpPr>
            <p:cNvPr id="32" name="円/楕円 31"/>
            <p:cNvSpPr/>
            <p:nvPr/>
          </p:nvSpPr>
          <p:spPr>
            <a:xfrm>
              <a:off x="4916153" y="4508501"/>
              <a:ext cx="142875" cy="1428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3600">
                <a:solidFill>
                  <a:schemeClr val="tx1"/>
                </a:solidFill>
                <a:latin typeface="Times New Roman" panose="02020603050405020304" pitchFamily="18" charset="0"/>
                <a:cs typeface="Times New Roman" panose="02020603050405020304" pitchFamily="18" charset="0"/>
              </a:endParaRPr>
            </a:p>
          </p:txBody>
        </p:sp>
        <p:cxnSp>
          <p:nvCxnSpPr>
            <p:cNvPr id="33" name="直線コネクタ 32"/>
            <p:cNvCxnSpPr/>
            <p:nvPr/>
          </p:nvCxnSpPr>
          <p:spPr>
            <a:xfrm>
              <a:off x="2180890" y="5157789"/>
              <a:ext cx="1871663" cy="1587"/>
            </a:xfrm>
            <a:prstGeom prst="line">
              <a:avLst/>
            </a:prstGeom>
            <a:ln w="25400">
              <a:solidFill>
                <a:srgbClr val="66A1D7"/>
              </a:solidFill>
            </a:ln>
          </p:spPr>
          <p:style>
            <a:lnRef idx="1">
              <a:schemeClr val="accent1"/>
            </a:lnRef>
            <a:fillRef idx="0">
              <a:schemeClr val="accent1"/>
            </a:fillRef>
            <a:effectRef idx="0">
              <a:schemeClr val="accent1"/>
            </a:effectRef>
            <a:fontRef idx="minor">
              <a:schemeClr val="tx1"/>
            </a:fontRef>
          </p:style>
        </p:cxnSp>
        <p:grpSp>
          <p:nvGrpSpPr>
            <p:cNvPr id="34" name="Group 133"/>
            <p:cNvGrpSpPr>
              <a:grpSpLocks/>
            </p:cNvGrpSpPr>
            <p:nvPr/>
          </p:nvGrpSpPr>
          <p:grpSpPr bwMode="auto">
            <a:xfrm>
              <a:off x="4268470" y="1801814"/>
              <a:ext cx="3201993" cy="3846512"/>
              <a:chOff x="4383" y="1135"/>
              <a:chExt cx="2017" cy="2423"/>
            </a:xfrm>
          </p:grpSpPr>
          <p:sp>
            <p:nvSpPr>
              <p:cNvPr id="35" name="テキスト ボックス 28"/>
              <p:cNvSpPr txBox="1">
                <a:spLocks noChangeArrowheads="1"/>
              </p:cNvSpPr>
              <p:nvPr/>
            </p:nvSpPr>
            <p:spPr bwMode="auto">
              <a:xfrm>
                <a:off x="4535" y="2765"/>
                <a:ext cx="1135" cy="252"/>
              </a:xfrm>
              <a:prstGeom prst="rect">
                <a:avLst/>
              </a:prstGeom>
              <a:noFill/>
              <a:ln w="9525">
                <a:noFill/>
                <a:miter lim="800000"/>
                <a:headEnd/>
                <a:tailEnd/>
              </a:ln>
            </p:spPr>
            <p:txBody>
              <a:bodyPr wrap="square">
                <a:spAutoFit/>
              </a:bodyPr>
              <a:lstStyle/>
              <a:p>
                <a:r>
                  <a:rPr lang="ja-JP" altLang="en-US" sz="2000" dirty="0">
                    <a:latin typeface="Times New Roman" panose="02020603050405020304" pitchFamily="18" charset="0"/>
                    <a:cs typeface="Times New Roman" panose="02020603050405020304" pitchFamily="18" charset="0"/>
                  </a:rPr>
                  <a:t>           </a:t>
                </a:r>
                <a:r>
                  <a:rPr lang="en-US" altLang="ja-JP" sz="2000" dirty="0">
                    <a:latin typeface="Times New Roman" panose="02020603050405020304" pitchFamily="18" charset="0"/>
                    <a:cs typeface="Times New Roman" panose="02020603050405020304" pitchFamily="18" charset="0"/>
                  </a:rPr>
                  <a:t>Death</a:t>
                </a:r>
              </a:p>
            </p:txBody>
          </p:sp>
          <p:sp>
            <p:nvSpPr>
              <p:cNvPr id="36" name="テキスト ボックス 28"/>
              <p:cNvSpPr txBox="1">
                <a:spLocks noChangeArrowheads="1"/>
              </p:cNvSpPr>
              <p:nvPr/>
            </p:nvSpPr>
            <p:spPr bwMode="auto">
              <a:xfrm>
                <a:off x="4383" y="1135"/>
                <a:ext cx="674" cy="252"/>
              </a:xfrm>
              <a:prstGeom prst="rect">
                <a:avLst/>
              </a:prstGeom>
              <a:noFill/>
              <a:ln w="9525">
                <a:noFill/>
                <a:miter lim="800000"/>
                <a:headEnd/>
                <a:tailEnd/>
              </a:ln>
            </p:spPr>
            <p:txBody>
              <a:bodyPr wrap="square">
                <a:spAutoFit/>
              </a:bodyPr>
              <a:lstStyle/>
              <a:p>
                <a:r>
                  <a:rPr lang="en-US" altLang="ja-JP" sz="2000" dirty="0">
                    <a:latin typeface="Times New Roman" panose="02020603050405020304" pitchFamily="18" charset="0"/>
                    <a:cs typeface="Times New Roman" panose="02020603050405020304" pitchFamily="18" charset="0"/>
                  </a:rPr>
                  <a:t>Relapse</a:t>
                </a:r>
              </a:p>
            </p:txBody>
          </p:sp>
          <p:sp>
            <p:nvSpPr>
              <p:cNvPr id="37" name="テキスト ボックス 28"/>
              <p:cNvSpPr txBox="1">
                <a:spLocks noChangeArrowheads="1"/>
              </p:cNvSpPr>
              <p:nvPr/>
            </p:nvSpPr>
            <p:spPr bwMode="auto">
              <a:xfrm>
                <a:off x="4744" y="2936"/>
                <a:ext cx="1656" cy="252"/>
              </a:xfrm>
              <a:prstGeom prst="rect">
                <a:avLst/>
              </a:prstGeom>
              <a:noFill/>
              <a:ln w="9525">
                <a:noFill/>
                <a:miter lim="800000"/>
                <a:headEnd/>
                <a:tailEnd/>
              </a:ln>
            </p:spPr>
            <p:txBody>
              <a:bodyPr wrap="square">
                <a:spAutoFit/>
              </a:bodyPr>
              <a:lstStyle/>
              <a:p>
                <a:r>
                  <a:rPr lang="ja-JP" altLang="en-US" sz="2000" dirty="0">
                    <a:latin typeface="Times New Roman" panose="02020603050405020304" pitchFamily="18" charset="0"/>
                    <a:cs typeface="Times New Roman" panose="02020603050405020304" pitchFamily="18" charset="0"/>
                  </a:rPr>
                  <a:t>                     </a:t>
                </a:r>
                <a:r>
                  <a:rPr lang="en-US" altLang="ja-JP" sz="2000" dirty="0">
                    <a:latin typeface="Times New Roman" panose="02020603050405020304" pitchFamily="18" charset="0"/>
                    <a:cs typeface="Times New Roman" panose="02020603050405020304" pitchFamily="18" charset="0"/>
                  </a:rPr>
                  <a:t>Relapse</a:t>
                </a:r>
              </a:p>
            </p:txBody>
          </p:sp>
          <p:sp>
            <p:nvSpPr>
              <p:cNvPr id="38" name="テキスト ボックス 28"/>
              <p:cNvSpPr txBox="1">
                <a:spLocks noChangeArrowheads="1"/>
              </p:cNvSpPr>
              <p:nvPr/>
            </p:nvSpPr>
            <p:spPr bwMode="auto">
              <a:xfrm>
                <a:off x="4383" y="3119"/>
                <a:ext cx="668" cy="252"/>
              </a:xfrm>
              <a:prstGeom prst="rect">
                <a:avLst/>
              </a:prstGeom>
              <a:noFill/>
              <a:ln w="9525">
                <a:noFill/>
                <a:miter lim="800000"/>
                <a:headEnd/>
                <a:tailEnd/>
              </a:ln>
            </p:spPr>
            <p:txBody>
              <a:bodyPr wrap="square">
                <a:spAutoFit/>
              </a:bodyPr>
              <a:lstStyle/>
              <a:p>
                <a:r>
                  <a:rPr lang="ja-JP" altLang="en-US" sz="2000" dirty="0">
                    <a:latin typeface="Times New Roman" panose="02020603050405020304" pitchFamily="18" charset="0"/>
                    <a:cs typeface="Times New Roman" panose="02020603050405020304" pitchFamily="18" charset="0"/>
                  </a:rPr>
                  <a:t> </a:t>
                </a:r>
                <a:r>
                  <a:rPr lang="en-US" altLang="ja-JP" sz="2000" dirty="0">
                    <a:latin typeface="Times New Roman" panose="02020603050405020304" pitchFamily="18" charset="0"/>
                    <a:cs typeface="Times New Roman" panose="02020603050405020304" pitchFamily="18" charset="0"/>
                  </a:rPr>
                  <a:t>Relapse</a:t>
                </a:r>
              </a:p>
            </p:txBody>
          </p:sp>
          <p:sp>
            <p:nvSpPr>
              <p:cNvPr id="39" name="テキスト ボックス 28"/>
              <p:cNvSpPr txBox="1">
                <a:spLocks noChangeArrowheads="1"/>
              </p:cNvSpPr>
              <p:nvPr/>
            </p:nvSpPr>
            <p:spPr bwMode="auto">
              <a:xfrm>
                <a:off x="4425" y="3306"/>
                <a:ext cx="1077" cy="252"/>
              </a:xfrm>
              <a:prstGeom prst="rect">
                <a:avLst/>
              </a:prstGeom>
              <a:noFill/>
              <a:ln w="9525">
                <a:noFill/>
                <a:miter lim="800000"/>
                <a:headEnd/>
                <a:tailEnd/>
              </a:ln>
            </p:spPr>
            <p:txBody>
              <a:bodyPr wrap="square">
                <a:spAutoFit/>
              </a:bodyPr>
              <a:lstStyle/>
              <a:p>
                <a:r>
                  <a:rPr lang="en-US" altLang="ja-JP" sz="2000" dirty="0">
                    <a:latin typeface="Times New Roman" panose="02020603050405020304" pitchFamily="18" charset="0"/>
                    <a:cs typeface="Times New Roman" panose="02020603050405020304" pitchFamily="18" charset="0"/>
                  </a:rPr>
                  <a:t>Second cancer</a:t>
                </a:r>
              </a:p>
            </p:txBody>
          </p:sp>
        </p:grpSp>
        <p:sp>
          <p:nvSpPr>
            <p:cNvPr id="40" name="円/楕円 39"/>
            <p:cNvSpPr/>
            <p:nvPr/>
          </p:nvSpPr>
          <p:spPr>
            <a:xfrm>
              <a:off x="3987465" y="5086351"/>
              <a:ext cx="142875" cy="1428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3600">
                <a:solidFill>
                  <a:schemeClr val="tx1"/>
                </a:solidFill>
                <a:latin typeface="Times New Roman" panose="02020603050405020304" pitchFamily="18" charset="0"/>
                <a:cs typeface="Times New Roman" panose="02020603050405020304" pitchFamily="18" charset="0"/>
              </a:endParaRPr>
            </a:p>
          </p:txBody>
        </p:sp>
        <p:grpSp>
          <p:nvGrpSpPr>
            <p:cNvPr id="43" name="グループ化 42"/>
            <p:cNvGrpSpPr/>
            <p:nvPr/>
          </p:nvGrpSpPr>
          <p:grpSpPr>
            <a:xfrm>
              <a:off x="7797466" y="2172368"/>
              <a:ext cx="2497733" cy="3761615"/>
              <a:chOff x="7524751" y="2172368"/>
              <a:chExt cx="2497733" cy="3761615"/>
            </a:xfrm>
          </p:grpSpPr>
          <p:sp>
            <p:nvSpPr>
              <p:cNvPr id="44" name="右中かっこ 43"/>
              <p:cNvSpPr>
                <a:spLocks/>
              </p:cNvSpPr>
              <p:nvPr/>
            </p:nvSpPr>
            <p:spPr bwMode="auto">
              <a:xfrm>
                <a:off x="7524751" y="2172368"/>
                <a:ext cx="144461" cy="2205036"/>
              </a:xfrm>
              <a:prstGeom prst="rightBrace">
                <a:avLst>
                  <a:gd name="adj1" fmla="val 7285"/>
                  <a:gd name="adj2" fmla="val 50000"/>
                </a:avLst>
              </a:prstGeom>
              <a:noFill/>
              <a:ln w="9525" algn="ctr">
                <a:solidFill>
                  <a:schemeClr val="tx1"/>
                </a:solidFill>
                <a:round/>
                <a:headEnd/>
                <a:tailEnd/>
              </a:ln>
            </p:spPr>
            <p:txBody>
              <a:bodyPr anchor="ctr"/>
              <a:lstStyle/>
              <a:p>
                <a:pPr algn="ctr">
                  <a:defRPr/>
                </a:pPr>
                <a:endParaRPr lang="ja-JP" altLang="en-US" sz="3600" dirty="0">
                  <a:latin typeface="Times New Roman" panose="02020603050405020304" pitchFamily="18" charset="0"/>
                  <a:cs typeface="Times New Roman" panose="02020603050405020304" pitchFamily="18" charset="0"/>
                </a:endParaRPr>
              </a:p>
            </p:txBody>
          </p:sp>
          <p:sp>
            <p:nvSpPr>
              <p:cNvPr id="45" name="テキスト ボックス 30"/>
              <p:cNvSpPr txBox="1">
                <a:spLocks noChangeArrowheads="1"/>
              </p:cNvSpPr>
              <p:nvPr/>
            </p:nvSpPr>
            <p:spPr bwMode="auto">
              <a:xfrm>
                <a:off x="7689794" y="3071661"/>
                <a:ext cx="2332690" cy="2862322"/>
              </a:xfrm>
              <a:prstGeom prst="rect">
                <a:avLst/>
              </a:prstGeom>
              <a:noFill/>
              <a:ln w="9525">
                <a:noFill/>
                <a:miter lim="800000"/>
                <a:headEnd/>
                <a:tailEnd/>
              </a:ln>
            </p:spPr>
            <p:txBody>
              <a:bodyPr wrap="none">
                <a:spAutoFit/>
              </a:bodyPr>
              <a:lstStyle/>
              <a:p>
                <a:r>
                  <a:rPr lang="en-US" altLang="ja-JP" sz="2000" dirty="0">
                    <a:latin typeface="Times New Roman" panose="02020603050405020304" pitchFamily="18" charset="0"/>
                    <a:cs typeface="Times New Roman" panose="02020603050405020304" pitchFamily="18" charset="0"/>
                  </a:rPr>
                  <a:t>Censoring</a:t>
                </a:r>
              </a:p>
              <a:p>
                <a:endParaRPr lang="en-US" altLang="ja-JP" sz="2000" dirty="0">
                  <a:latin typeface="Times New Roman" panose="02020603050405020304" pitchFamily="18" charset="0"/>
                  <a:cs typeface="Times New Roman" panose="02020603050405020304" pitchFamily="18" charset="0"/>
                </a:endParaRPr>
              </a:p>
              <a:p>
                <a:endParaRPr lang="en-US" altLang="ja-JP" sz="2000" dirty="0">
                  <a:latin typeface="Times New Roman" panose="02020603050405020304" pitchFamily="18" charset="0"/>
                  <a:cs typeface="Times New Roman" panose="02020603050405020304" pitchFamily="18" charset="0"/>
                </a:endParaRPr>
              </a:p>
              <a:p>
                <a:endParaRPr lang="en-US" altLang="ja-JP" sz="2000" dirty="0">
                  <a:latin typeface="Times New Roman" panose="02020603050405020304" pitchFamily="18" charset="0"/>
                  <a:cs typeface="Times New Roman" panose="02020603050405020304" pitchFamily="18" charset="0"/>
                </a:endParaRPr>
              </a:p>
              <a:p>
                <a:endParaRPr lang="en-US" altLang="ja-JP" sz="2000" dirty="0">
                  <a:latin typeface="Times New Roman" panose="02020603050405020304" pitchFamily="18" charset="0"/>
                  <a:cs typeface="Times New Roman" panose="02020603050405020304" pitchFamily="18" charset="0"/>
                </a:endParaRPr>
              </a:p>
              <a:p>
                <a:endParaRPr lang="en-US" altLang="ja-JP" sz="2000" dirty="0">
                  <a:latin typeface="Times New Roman" panose="02020603050405020304" pitchFamily="18" charset="0"/>
                  <a:cs typeface="Times New Roman" panose="02020603050405020304" pitchFamily="18" charset="0"/>
                </a:endParaRPr>
              </a:p>
              <a:p>
                <a:r>
                  <a:rPr lang="en-US" altLang="ja-JP" sz="2000" dirty="0">
                    <a:latin typeface="Times New Roman" panose="02020603050405020304" pitchFamily="18" charset="0"/>
                    <a:cs typeface="Times New Roman" panose="02020603050405020304" pitchFamily="18" charset="0"/>
                  </a:rPr>
                  <a:t>DFS: Event</a:t>
                </a:r>
              </a:p>
              <a:p>
                <a:r>
                  <a:rPr lang="en-US" altLang="ja-JP" sz="2000" dirty="0">
                    <a:latin typeface="Times New Roman" panose="02020603050405020304" pitchFamily="18" charset="0"/>
                    <a:cs typeface="Times New Roman" panose="02020603050405020304" pitchFamily="18" charset="0"/>
                  </a:rPr>
                  <a:t>RFS: Censoring</a:t>
                </a:r>
              </a:p>
              <a:p>
                <a:r>
                  <a:rPr lang="en-US" altLang="ja-JP" sz="2000" dirty="0">
                    <a:latin typeface="Times New Roman" panose="02020603050405020304" pitchFamily="18" charset="0"/>
                    <a:cs typeface="Times New Roman" panose="02020603050405020304" pitchFamily="18" charset="0"/>
                  </a:rPr>
                  <a:t>CIR: Competing risk</a:t>
                </a:r>
              </a:p>
            </p:txBody>
          </p:sp>
        </p:grpSp>
        <p:sp>
          <p:nvSpPr>
            <p:cNvPr id="48" name="テキスト ボックス 40">
              <a:extLst>
                <a:ext uri="{FF2B5EF4-FFF2-40B4-BE49-F238E27FC236}">
                  <a16:creationId xmlns:a16="http://schemas.microsoft.com/office/drawing/2014/main" id="{D497C643-85FB-4427-842A-25B74BD17A4B}"/>
                </a:ext>
              </a:extLst>
            </p:cNvPr>
            <p:cNvSpPr txBox="1">
              <a:spLocks noChangeArrowheads="1"/>
            </p:cNvSpPr>
            <p:nvPr/>
          </p:nvSpPr>
          <p:spPr bwMode="auto">
            <a:xfrm>
              <a:off x="2011464" y="5896936"/>
              <a:ext cx="6640924" cy="369332"/>
            </a:xfrm>
            <a:prstGeom prst="rect">
              <a:avLst/>
            </a:prstGeom>
            <a:noFill/>
            <a:ln w="9525">
              <a:noFill/>
              <a:miter lim="800000"/>
              <a:headEnd/>
              <a:tailEnd/>
            </a:ln>
          </p:spPr>
          <p:txBody>
            <a:bodyPr wrap="square">
              <a:spAutoFit/>
            </a:bodyPr>
            <a:lstStyle/>
            <a:p>
              <a:r>
                <a:rPr lang="en-US" altLang="ja-JP" dirty="0">
                  <a:latin typeface="Times New Roman" panose="02020603050405020304" pitchFamily="18" charset="0"/>
                  <a:cs typeface="Times New Roman" panose="02020603050405020304" pitchFamily="18" charset="0"/>
                </a:rPr>
                <a:t>0		4		8		12		16		20		24 months</a:t>
              </a:r>
              <a:endParaRPr lang="ja-JP" altLang="en-US" dirty="0">
                <a:latin typeface="Times New Roman" panose="02020603050405020304" pitchFamily="18" charset="0"/>
                <a:cs typeface="Times New Roman" panose="02020603050405020304" pitchFamily="18" charset="0"/>
              </a:endParaRPr>
            </a:p>
          </p:txBody>
        </p:sp>
        <p:sp>
          <p:nvSpPr>
            <p:cNvPr id="41" name="右中かっこ 40">
              <a:extLst>
                <a:ext uri="{FF2B5EF4-FFF2-40B4-BE49-F238E27FC236}">
                  <a16:creationId xmlns:a16="http://schemas.microsoft.com/office/drawing/2014/main" id="{D6357D47-87EC-44F2-A3C5-163E3471D05D}"/>
                </a:ext>
              </a:extLst>
            </p:cNvPr>
            <p:cNvSpPr>
              <a:spLocks/>
            </p:cNvSpPr>
            <p:nvPr/>
          </p:nvSpPr>
          <p:spPr bwMode="auto">
            <a:xfrm flipH="1">
              <a:off x="7775903" y="4990435"/>
              <a:ext cx="166024" cy="817563"/>
            </a:xfrm>
            <a:prstGeom prst="rightBrace">
              <a:avLst>
                <a:gd name="adj1" fmla="val 7285"/>
                <a:gd name="adj2" fmla="val 50000"/>
              </a:avLst>
            </a:prstGeom>
            <a:noFill/>
            <a:ln w="9525" algn="ctr">
              <a:solidFill>
                <a:schemeClr val="tx1"/>
              </a:solidFill>
              <a:round/>
              <a:headEnd/>
              <a:tailEnd/>
            </a:ln>
          </p:spPr>
          <p:txBody>
            <a:bodyPr anchor="ctr"/>
            <a:lstStyle/>
            <a:p>
              <a:pPr algn="ctr">
                <a:defRPr/>
              </a:pPr>
              <a:endParaRPr lang="ja-JP" altLang="en-US" sz="3600"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942938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グループ化 1">
            <a:extLst>
              <a:ext uri="{FF2B5EF4-FFF2-40B4-BE49-F238E27FC236}">
                <a16:creationId xmlns:a16="http://schemas.microsoft.com/office/drawing/2014/main" id="{B69ECDC8-9715-47DE-A786-F29D7E4D032F}"/>
              </a:ext>
            </a:extLst>
          </p:cNvPr>
          <p:cNvGrpSpPr/>
          <p:nvPr/>
        </p:nvGrpSpPr>
        <p:grpSpPr>
          <a:xfrm>
            <a:off x="1588582" y="1628776"/>
            <a:ext cx="8365178" cy="4966134"/>
            <a:chOff x="1588582" y="1628776"/>
            <a:chExt cx="8365178" cy="4966134"/>
          </a:xfrm>
        </p:grpSpPr>
        <p:cxnSp>
          <p:nvCxnSpPr>
            <p:cNvPr id="52" name="直線コネクタ 51">
              <a:extLst>
                <a:ext uri="{FF2B5EF4-FFF2-40B4-BE49-F238E27FC236}">
                  <a16:creationId xmlns:a16="http://schemas.microsoft.com/office/drawing/2014/main" id="{38E5DF9A-BFE9-4A81-A044-F7D094438301}"/>
                </a:ext>
              </a:extLst>
            </p:cNvPr>
            <p:cNvCxnSpPr/>
            <p:nvPr/>
          </p:nvCxnSpPr>
          <p:spPr>
            <a:xfrm>
              <a:off x="2185805" y="5428173"/>
              <a:ext cx="1871663" cy="1587"/>
            </a:xfrm>
            <a:prstGeom prst="line">
              <a:avLst/>
            </a:prstGeom>
            <a:ln w="25400">
              <a:solidFill>
                <a:srgbClr val="66A1D7"/>
              </a:solidFill>
            </a:ln>
          </p:spPr>
          <p:style>
            <a:lnRef idx="1">
              <a:schemeClr val="accent1"/>
            </a:lnRef>
            <a:fillRef idx="0">
              <a:schemeClr val="accent1"/>
            </a:fillRef>
            <a:effectRef idx="0">
              <a:schemeClr val="accent1"/>
            </a:effectRef>
            <a:fontRef idx="minor">
              <a:schemeClr val="tx1"/>
            </a:fontRef>
          </p:style>
        </p:cxnSp>
        <p:sp>
          <p:nvSpPr>
            <p:cNvPr id="4" name="正方形/長方形 3"/>
            <p:cNvSpPr/>
            <p:nvPr/>
          </p:nvSpPr>
          <p:spPr>
            <a:xfrm>
              <a:off x="2180889" y="1628776"/>
              <a:ext cx="5521325" cy="4214813"/>
            </a:xfrm>
            <a:prstGeom prst="rect">
              <a:avLst/>
            </a:prstGeom>
            <a:solidFill>
              <a:schemeClr val="accent1">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3600">
                <a:solidFill>
                  <a:schemeClr val="tx1"/>
                </a:solidFill>
              </a:endParaRPr>
            </a:p>
          </p:txBody>
        </p:sp>
        <p:sp>
          <p:nvSpPr>
            <p:cNvPr id="5" name="テキスト ボックス 28"/>
            <p:cNvSpPr txBox="1">
              <a:spLocks noChangeArrowheads="1"/>
            </p:cNvSpPr>
            <p:nvPr/>
          </p:nvSpPr>
          <p:spPr bwMode="auto">
            <a:xfrm>
              <a:off x="1588582" y="6194800"/>
              <a:ext cx="1210588" cy="400110"/>
            </a:xfrm>
            <a:prstGeom prst="rect">
              <a:avLst/>
            </a:prstGeom>
            <a:noFill/>
            <a:ln w="9525">
              <a:noFill/>
              <a:miter lim="800000"/>
              <a:headEnd/>
              <a:tailEnd/>
            </a:ln>
          </p:spPr>
          <p:txBody>
            <a:bodyPr wrap="none">
              <a:spAutoFit/>
            </a:bodyPr>
            <a:lstStyle/>
            <a:p>
              <a:pPr algn="ctr"/>
              <a:r>
                <a:rPr lang="ja-JP" altLang="en-US" sz="2000" dirty="0"/>
                <a:t>時間原点</a:t>
              </a:r>
              <a:endParaRPr lang="en-US" altLang="ja-JP" sz="2000" dirty="0"/>
            </a:p>
          </p:txBody>
        </p:sp>
        <p:cxnSp>
          <p:nvCxnSpPr>
            <p:cNvPr id="8" name="直線コネクタ 7"/>
            <p:cNvCxnSpPr/>
            <p:nvPr/>
          </p:nvCxnSpPr>
          <p:spPr>
            <a:xfrm>
              <a:off x="2180889" y="3429000"/>
              <a:ext cx="3240088"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円/楕円 9"/>
            <p:cNvSpPr/>
            <p:nvPr/>
          </p:nvSpPr>
          <p:spPr>
            <a:xfrm>
              <a:off x="3987465" y="5357814"/>
              <a:ext cx="142875" cy="1428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3600">
                <a:solidFill>
                  <a:schemeClr val="tx1"/>
                </a:solidFill>
              </a:endParaRPr>
            </a:p>
          </p:txBody>
        </p:sp>
        <p:cxnSp>
          <p:nvCxnSpPr>
            <p:cNvPr id="11" name="直線コネクタ 10"/>
            <p:cNvCxnSpPr/>
            <p:nvPr/>
          </p:nvCxnSpPr>
          <p:spPr>
            <a:xfrm>
              <a:off x="2187239" y="3996583"/>
              <a:ext cx="5500687" cy="1587"/>
            </a:xfrm>
            <a:prstGeom prst="line">
              <a:avLst/>
            </a:prstGeom>
            <a:ln w="25400">
              <a:solidFill>
                <a:srgbClr val="66A1D7"/>
              </a:solidFill>
            </a:ln>
          </p:spPr>
          <p:style>
            <a:lnRef idx="1">
              <a:schemeClr val="accent1"/>
            </a:lnRef>
            <a:fillRef idx="0">
              <a:schemeClr val="accent1"/>
            </a:fillRef>
            <a:effectRef idx="0">
              <a:schemeClr val="accent1"/>
            </a:effectRef>
            <a:fontRef idx="minor">
              <a:schemeClr val="tx1"/>
            </a:fontRef>
          </p:style>
        </p:cxnSp>
        <p:cxnSp>
          <p:nvCxnSpPr>
            <p:cNvPr id="12" name="直線コネクタ 11"/>
            <p:cNvCxnSpPr/>
            <p:nvPr/>
          </p:nvCxnSpPr>
          <p:spPr>
            <a:xfrm>
              <a:off x="2187239" y="2000250"/>
              <a:ext cx="1857375" cy="1588"/>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3" name="円/楕円 12"/>
            <p:cNvSpPr/>
            <p:nvPr/>
          </p:nvSpPr>
          <p:spPr>
            <a:xfrm>
              <a:off x="3987465" y="1928814"/>
              <a:ext cx="142875" cy="1428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3600">
                <a:solidFill>
                  <a:schemeClr val="tx1"/>
                </a:solidFill>
              </a:endParaRPr>
            </a:p>
          </p:txBody>
        </p:sp>
        <p:cxnSp>
          <p:nvCxnSpPr>
            <p:cNvPr id="14" name="直線コネクタ 13"/>
            <p:cNvCxnSpPr/>
            <p:nvPr/>
          </p:nvCxnSpPr>
          <p:spPr>
            <a:xfrm>
              <a:off x="2180889" y="2276475"/>
              <a:ext cx="3024188"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5" name="直線コネクタ 14"/>
            <p:cNvCxnSpPr/>
            <p:nvPr/>
          </p:nvCxnSpPr>
          <p:spPr>
            <a:xfrm>
              <a:off x="2187238" y="3143250"/>
              <a:ext cx="5143500" cy="1588"/>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6" name="直線コネクタ 15"/>
            <p:cNvCxnSpPr/>
            <p:nvPr/>
          </p:nvCxnSpPr>
          <p:spPr>
            <a:xfrm>
              <a:off x="2187238" y="3712419"/>
              <a:ext cx="4857750" cy="1588"/>
            </a:xfrm>
            <a:prstGeom prst="line">
              <a:avLst/>
            </a:prstGeom>
            <a:ln w="25400">
              <a:solidFill>
                <a:srgbClr val="66A1D7"/>
              </a:solidFill>
            </a:ln>
          </p:spPr>
          <p:style>
            <a:lnRef idx="1">
              <a:schemeClr val="accent1"/>
            </a:lnRef>
            <a:fillRef idx="0">
              <a:schemeClr val="accent1"/>
            </a:fillRef>
            <a:effectRef idx="0">
              <a:schemeClr val="accent1"/>
            </a:effectRef>
            <a:fontRef idx="minor">
              <a:schemeClr val="tx1"/>
            </a:fontRef>
          </p:style>
        </p:cxnSp>
        <p:cxnSp>
          <p:nvCxnSpPr>
            <p:cNvPr id="17" name="直線コネクタ 16"/>
            <p:cNvCxnSpPr/>
            <p:nvPr/>
          </p:nvCxnSpPr>
          <p:spPr>
            <a:xfrm>
              <a:off x="2180889" y="2565400"/>
              <a:ext cx="5111750"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7" name="直線コネクタ 26"/>
            <p:cNvCxnSpPr/>
            <p:nvPr/>
          </p:nvCxnSpPr>
          <p:spPr>
            <a:xfrm>
              <a:off x="2180890" y="2852738"/>
              <a:ext cx="2879725"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8" name="直線コネクタ 27"/>
            <p:cNvCxnSpPr/>
            <p:nvPr/>
          </p:nvCxnSpPr>
          <p:spPr>
            <a:xfrm>
              <a:off x="2180890" y="4292600"/>
              <a:ext cx="3095625" cy="0"/>
            </a:xfrm>
            <a:prstGeom prst="line">
              <a:avLst/>
            </a:prstGeom>
            <a:ln w="25400">
              <a:solidFill>
                <a:srgbClr val="66A1D7"/>
              </a:solidFill>
            </a:ln>
          </p:spPr>
          <p:style>
            <a:lnRef idx="1">
              <a:schemeClr val="accent1"/>
            </a:lnRef>
            <a:fillRef idx="0">
              <a:schemeClr val="accent1"/>
            </a:fillRef>
            <a:effectRef idx="0">
              <a:schemeClr val="accent1"/>
            </a:effectRef>
            <a:fontRef idx="minor">
              <a:schemeClr val="tx1"/>
            </a:fontRef>
          </p:style>
        </p:cxnSp>
        <p:cxnSp>
          <p:nvCxnSpPr>
            <p:cNvPr id="29" name="直線コネクタ 28"/>
            <p:cNvCxnSpPr>
              <a:endCxn id="30" idx="2"/>
            </p:cNvCxnSpPr>
            <p:nvPr/>
          </p:nvCxnSpPr>
          <p:spPr>
            <a:xfrm>
              <a:off x="2179303" y="4868863"/>
              <a:ext cx="3743325" cy="0"/>
            </a:xfrm>
            <a:prstGeom prst="line">
              <a:avLst/>
            </a:prstGeom>
            <a:ln w="25400">
              <a:solidFill>
                <a:srgbClr val="66A1D7"/>
              </a:solidFill>
            </a:ln>
          </p:spPr>
          <p:style>
            <a:lnRef idx="1">
              <a:schemeClr val="accent1"/>
            </a:lnRef>
            <a:fillRef idx="0">
              <a:schemeClr val="accent1"/>
            </a:fillRef>
            <a:effectRef idx="0">
              <a:schemeClr val="accent1"/>
            </a:effectRef>
            <a:fontRef idx="minor">
              <a:schemeClr val="tx1"/>
            </a:fontRef>
          </p:style>
        </p:cxnSp>
        <p:sp>
          <p:nvSpPr>
            <p:cNvPr id="30" name="円/楕円 29"/>
            <p:cNvSpPr/>
            <p:nvPr/>
          </p:nvSpPr>
          <p:spPr>
            <a:xfrm>
              <a:off x="5852778" y="4797426"/>
              <a:ext cx="142875" cy="1428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3600">
                <a:solidFill>
                  <a:schemeClr val="tx1"/>
                </a:solidFill>
              </a:endParaRPr>
            </a:p>
          </p:txBody>
        </p:sp>
        <p:cxnSp>
          <p:nvCxnSpPr>
            <p:cNvPr id="31" name="直線コネクタ 30"/>
            <p:cNvCxnSpPr/>
            <p:nvPr/>
          </p:nvCxnSpPr>
          <p:spPr>
            <a:xfrm>
              <a:off x="2180890" y="4581525"/>
              <a:ext cx="2786063" cy="1588"/>
            </a:xfrm>
            <a:prstGeom prst="line">
              <a:avLst/>
            </a:prstGeom>
            <a:ln w="25400">
              <a:solidFill>
                <a:srgbClr val="66A1D7"/>
              </a:solidFill>
            </a:ln>
          </p:spPr>
          <p:style>
            <a:lnRef idx="1">
              <a:schemeClr val="accent1"/>
            </a:lnRef>
            <a:fillRef idx="0">
              <a:schemeClr val="accent1"/>
            </a:fillRef>
            <a:effectRef idx="0">
              <a:schemeClr val="accent1"/>
            </a:effectRef>
            <a:fontRef idx="minor">
              <a:schemeClr val="tx1"/>
            </a:fontRef>
          </p:style>
        </p:cxnSp>
        <p:sp>
          <p:nvSpPr>
            <p:cNvPr id="32" name="円/楕円 31"/>
            <p:cNvSpPr/>
            <p:nvPr/>
          </p:nvSpPr>
          <p:spPr>
            <a:xfrm>
              <a:off x="4916153" y="4508501"/>
              <a:ext cx="142875" cy="1428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3600">
                <a:solidFill>
                  <a:schemeClr val="tx1"/>
                </a:solidFill>
              </a:endParaRPr>
            </a:p>
          </p:txBody>
        </p:sp>
        <p:cxnSp>
          <p:nvCxnSpPr>
            <p:cNvPr id="33" name="直線コネクタ 32"/>
            <p:cNvCxnSpPr/>
            <p:nvPr/>
          </p:nvCxnSpPr>
          <p:spPr>
            <a:xfrm>
              <a:off x="2180890" y="5157789"/>
              <a:ext cx="1871663" cy="1587"/>
            </a:xfrm>
            <a:prstGeom prst="line">
              <a:avLst/>
            </a:prstGeom>
            <a:ln w="25400">
              <a:solidFill>
                <a:srgbClr val="66A1D7"/>
              </a:solidFill>
            </a:ln>
          </p:spPr>
          <p:style>
            <a:lnRef idx="1">
              <a:schemeClr val="accent1"/>
            </a:lnRef>
            <a:fillRef idx="0">
              <a:schemeClr val="accent1"/>
            </a:fillRef>
            <a:effectRef idx="0">
              <a:schemeClr val="accent1"/>
            </a:effectRef>
            <a:fontRef idx="minor">
              <a:schemeClr val="tx1"/>
            </a:fontRef>
          </p:style>
        </p:cxnSp>
        <p:grpSp>
          <p:nvGrpSpPr>
            <p:cNvPr id="34" name="Group 133"/>
            <p:cNvGrpSpPr>
              <a:grpSpLocks/>
            </p:cNvGrpSpPr>
            <p:nvPr/>
          </p:nvGrpSpPr>
          <p:grpSpPr bwMode="auto">
            <a:xfrm>
              <a:off x="4268470" y="1801814"/>
              <a:ext cx="3211518" cy="3856037"/>
              <a:chOff x="4383" y="1135"/>
              <a:chExt cx="2023" cy="2429"/>
            </a:xfrm>
          </p:grpSpPr>
          <p:sp>
            <p:nvSpPr>
              <p:cNvPr id="35" name="テキスト ボックス 28"/>
              <p:cNvSpPr txBox="1">
                <a:spLocks noChangeArrowheads="1"/>
              </p:cNvSpPr>
              <p:nvPr/>
            </p:nvSpPr>
            <p:spPr bwMode="auto">
              <a:xfrm>
                <a:off x="4535" y="2783"/>
                <a:ext cx="839" cy="252"/>
              </a:xfrm>
              <a:prstGeom prst="rect">
                <a:avLst/>
              </a:prstGeom>
              <a:noFill/>
              <a:ln w="9525">
                <a:noFill/>
                <a:miter lim="800000"/>
                <a:headEnd/>
                <a:tailEnd/>
              </a:ln>
            </p:spPr>
            <p:txBody>
              <a:bodyPr wrap="square">
                <a:spAutoFit/>
              </a:bodyPr>
              <a:lstStyle/>
              <a:p>
                <a:r>
                  <a:rPr lang="ja-JP" altLang="en-US" sz="2000" dirty="0"/>
                  <a:t>           死亡</a:t>
                </a:r>
                <a:endParaRPr lang="en-US" altLang="ja-JP" sz="2000" dirty="0"/>
              </a:p>
            </p:txBody>
          </p:sp>
          <p:sp>
            <p:nvSpPr>
              <p:cNvPr id="36" name="テキスト ボックス 28"/>
              <p:cNvSpPr txBox="1">
                <a:spLocks noChangeArrowheads="1"/>
              </p:cNvSpPr>
              <p:nvPr/>
            </p:nvSpPr>
            <p:spPr bwMode="auto">
              <a:xfrm>
                <a:off x="4383" y="1135"/>
                <a:ext cx="674" cy="252"/>
              </a:xfrm>
              <a:prstGeom prst="rect">
                <a:avLst/>
              </a:prstGeom>
              <a:noFill/>
              <a:ln w="9525">
                <a:noFill/>
                <a:miter lim="800000"/>
                <a:headEnd/>
                <a:tailEnd/>
              </a:ln>
            </p:spPr>
            <p:txBody>
              <a:bodyPr wrap="square">
                <a:spAutoFit/>
              </a:bodyPr>
              <a:lstStyle/>
              <a:p>
                <a:r>
                  <a:rPr lang="ja-JP" altLang="en-US" sz="2000" dirty="0"/>
                  <a:t>再発</a:t>
                </a:r>
                <a:endParaRPr lang="en-US" altLang="ja-JP" sz="2000" dirty="0"/>
              </a:p>
            </p:txBody>
          </p:sp>
          <p:sp>
            <p:nvSpPr>
              <p:cNvPr id="37" name="テキスト ボックス 28"/>
              <p:cNvSpPr txBox="1">
                <a:spLocks noChangeArrowheads="1"/>
              </p:cNvSpPr>
              <p:nvPr/>
            </p:nvSpPr>
            <p:spPr bwMode="auto">
              <a:xfrm>
                <a:off x="4750" y="2948"/>
                <a:ext cx="1656" cy="252"/>
              </a:xfrm>
              <a:prstGeom prst="rect">
                <a:avLst/>
              </a:prstGeom>
              <a:noFill/>
              <a:ln w="9525">
                <a:noFill/>
                <a:miter lim="800000"/>
                <a:headEnd/>
                <a:tailEnd/>
              </a:ln>
            </p:spPr>
            <p:txBody>
              <a:bodyPr wrap="square">
                <a:spAutoFit/>
              </a:bodyPr>
              <a:lstStyle/>
              <a:p>
                <a:r>
                  <a:rPr lang="ja-JP" altLang="en-US" sz="2000" dirty="0"/>
                  <a:t>                     再発</a:t>
                </a:r>
                <a:endParaRPr lang="en-US" altLang="ja-JP" sz="2000" dirty="0"/>
              </a:p>
            </p:txBody>
          </p:sp>
          <p:sp>
            <p:nvSpPr>
              <p:cNvPr id="38" name="テキスト ボックス 28"/>
              <p:cNvSpPr txBox="1">
                <a:spLocks noChangeArrowheads="1"/>
              </p:cNvSpPr>
              <p:nvPr/>
            </p:nvSpPr>
            <p:spPr bwMode="auto">
              <a:xfrm>
                <a:off x="4383" y="3125"/>
                <a:ext cx="439" cy="252"/>
              </a:xfrm>
              <a:prstGeom prst="rect">
                <a:avLst/>
              </a:prstGeom>
              <a:noFill/>
              <a:ln w="9525">
                <a:noFill/>
                <a:miter lim="800000"/>
                <a:headEnd/>
                <a:tailEnd/>
              </a:ln>
            </p:spPr>
            <p:txBody>
              <a:bodyPr wrap="none">
                <a:spAutoFit/>
              </a:bodyPr>
              <a:lstStyle/>
              <a:p>
                <a:r>
                  <a:rPr lang="ja-JP" altLang="en-US" sz="2000" dirty="0"/>
                  <a:t>再発</a:t>
                </a:r>
                <a:endParaRPr lang="en-US" altLang="ja-JP" sz="2000" dirty="0"/>
              </a:p>
            </p:txBody>
          </p:sp>
          <p:sp>
            <p:nvSpPr>
              <p:cNvPr id="39" name="テキスト ボックス 28"/>
              <p:cNvSpPr txBox="1">
                <a:spLocks noChangeArrowheads="1"/>
              </p:cNvSpPr>
              <p:nvPr/>
            </p:nvSpPr>
            <p:spPr bwMode="auto">
              <a:xfrm>
                <a:off x="4383" y="3312"/>
                <a:ext cx="701" cy="252"/>
              </a:xfrm>
              <a:prstGeom prst="rect">
                <a:avLst/>
              </a:prstGeom>
              <a:noFill/>
              <a:ln w="9525">
                <a:noFill/>
                <a:miter lim="800000"/>
                <a:headEnd/>
                <a:tailEnd/>
              </a:ln>
            </p:spPr>
            <p:txBody>
              <a:bodyPr wrap="none">
                <a:spAutoFit/>
              </a:bodyPr>
              <a:lstStyle/>
              <a:p>
                <a:r>
                  <a:rPr lang="en-US" altLang="ja-JP" sz="2000" dirty="0"/>
                  <a:t>2</a:t>
                </a:r>
                <a:r>
                  <a:rPr lang="ja-JP" altLang="en-US" sz="2000" dirty="0"/>
                  <a:t>次がん</a:t>
                </a:r>
                <a:endParaRPr lang="en-US" altLang="ja-JP" sz="2000" dirty="0"/>
              </a:p>
            </p:txBody>
          </p:sp>
        </p:grpSp>
        <p:sp>
          <p:nvSpPr>
            <p:cNvPr id="40" name="円/楕円 39"/>
            <p:cNvSpPr/>
            <p:nvPr/>
          </p:nvSpPr>
          <p:spPr>
            <a:xfrm>
              <a:off x="3987465" y="5086351"/>
              <a:ext cx="142875" cy="1428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3600">
                <a:solidFill>
                  <a:schemeClr val="tx1"/>
                </a:solidFill>
              </a:endParaRPr>
            </a:p>
          </p:txBody>
        </p:sp>
        <p:grpSp>
          <p:nvGrpSpPr>
            <p:cNvPr id="43" name="グループ化 42"/>
            <p:cNvGrpSpPr/>
            <p:nvPr/>
          </p:nvGrpSpPr>
          <p:grpSpPr>
            <a:xfrm>
              <a:off x="7797466" y="2172368"/>
              <a:ext cx="2156294" cy="3761615"/>
              <a:chOff x="7524751" y="2172368"/>
              <a:chExt cx="2156294" cy="3761615"/>
            </a:xfrm>
          </p:grpSpPr>
          <p:sp>
            <p:nvSpPr>
              <p:cNvPr id="44" name="右中かっこ 43"/>
              <p:cNvSpPr>
                <a:spLocks/>
              </p:cNvSpPr>
              <p:nvPr/>
            </p:nvSpPr>
            <p:spPr bwMode="auto">
              <a:xfrm>
                <a:off x="7524751" y="2172368"/>
                <a:ext cx="144461" cy="2205036"/>
              </a:xfrm>
              <a:prstGeom prst="rightBrace">
                <a:avLst>
                  <a:gd name="adj1" fmla="val 7285"/>
                  <a:gd name="adj2" fmla="val 50000"/>
                </a:avLst>
              </a:prstGeom>
              <a:noFill/>
              <a:ln w="9525" algn="ctr">
                <a:solidFill>
                  <a:schemeClr val="tx1"/>
                </a:solidFill>
                <a:round/>
                <a:headEnd/>
                <a:tailEnd/>
              </a:ln>
            </p:spPr>
            <p:txBody>
              <a:bodyPr anchor="ctr"/>
              <a:lstStyle/>
              <a:p>
                <a:pPr algn="ctr">
                  <a:defRPr/>
                </a:pPr>
                <a:endParaRPr lang="ja-JP" altLang="en-US" sz="3600" dirty="0"/>
              </a:p>
            </p:txBody>
          </p:sp>
          <p:sp>
            <p:nvSpPr>
              <p:cNvPr id="45" name="テキスト ボックス 30"/>
              <p:cNvSpPr txBox="1">
                <a:spLocks noChangeArrowheads="1"/>
              </p:cNvSpPr>
              <p:nvPr/>
            </p:nvSpPr>
            <p:spPr bwMode="auto">
              <a:xfrm>
                <a:off x="7689794" y="3071661"/>
                <a:ext cx="1991251" cy="2862322"/>
              </a:xfrm>
              <a:prstGeom prst="rect">
                <a:avLst/>
              </a:prstGeom>
              <a:noFill/>
              <a:ln w="9525">
                <a:noFill/>
                <a:miter lim="800000"/>
                <a:headEnd/>
                <a:tailEnd/>
              </a:ln>
            </p:spPr>
            <p:txBody>
              <a:bodyPr wrap="none">
                <a:spAutoFit/>
              </a:bodyPr>
              <a:lstStyle/>
              <a:p>
                <a:r>
                  <a:rPr lang="ja-JP" altLang="en-US" sz="2000" dirty="0"/>
                  <a:t>打ち切り</a:t>
                </a:r>
                <a:endParaRPr lang="en-US" altLang="ja-JP" sz="2000" dirty="0"/>
              </a:p>
              <a:p>
                <a:endParaRPr lang="en-US" altLang="ja-JP" sz="2000" dirty="0"/>
              </a:p>
              <a:p>
                <a:endParaRPr lang="en-US" altLang="ja-JP" sz="2000" dirty="0"/>
              </a:p>
              <a:p>
                <a:endParaRPr lang="en-US" altLang="ja-JP" sz="2000" dirty="0"/>
              </a:p>
              <a:p>
                <a:endParaRPr lang="en-US" altLang="ja-JP" sz="2000" dirty="0"/>
              </a:p>
              <a:p>
                <a:endParaRPr lang="en-US" altLang="ja-JP" sz="2000" dirty="0"/>
              </a:p>
              <a:p>
                <a:r>
                  <a:rPr lang="en-US" altLang="ja-JP" sz="2000" dirty="0"/>
                  <a:t>DFS: </a:t>
                </a:r>
                <a:r>
                  <a:rPr lang="ja-JP" altLang="en-US" sz="2000" dirty="0"/>
                  <a:t>イベント</a:t>
                </a:r>
                <a:endParaRPr lang="en-US" altLang="ja-JP" sz="2000" dirty="0"/>
              </a:p>
              <a:p>
                <a:r>
                  <a:rPr lang="en-US" altLang="ja-JP" sz="2000" dirty="0"/>
                  <a:t>RFS: </a:t>
                </a:r>
                <a:r>
                  <a:rPr lang="ja-JP" altLang="en-US" sz="2000" dirty="0"/>
                  <a:t>打ち切り</a:t>
                </a:r>
                <a:endParaRPr lang="en-US" altLang="ja-JP" sz="2000" dirty="0"/>
              </a:p>
              <a:p>
                <a:r>
                  <a:rPr lang="en-US" altLang="ja-JP" sz="2000" dirty="0"/>
                  <a:t>CIR: </a:t>
                </a:r>
                <a:r>
                  <a:rPr lang="ja-JP" altLang="en-US" sz="2000" dirty="0"/>
                  <a:t>競合リスク</a:t>
                </a:r>
                <a:endParaRPr lang="en-US" altLang="ja-JP" sz="2000" dirty="0"/>
              </a:p>
            </p:txBody>
          </p:sp>
        </p:grpSp>
        <p:sp>
          <p:nvSpPr>
            <p:cNvPr id="48" name="テキスト ボックス 40">
              <a:extLst>
                <a:ext uri="{FF2B5EF4-FFF2-40B4-BE49-F238E27FC236}">
                  <a16:creationId xmlns:a16="http://schemas.microsoft.com/office/drawing/2014/main" id="{D497C643-85FB-4427-842A-25B74BD17A4B}"/>
                </a:ext>
              </a:extLst>
            </p:cNvPr>
            <p:cNvSpPr txBox="1">
              <a:spLocks noChangeArrowheads="1"/>
            </p:cNvSpPr>
            <p:nvPr/>
          </p:nvSpPr>
          <p:spPr bwMode="auto">
            <a:xfrm>
              <a:off x="2031128" y="5896936"/>
              <a:ext cx="6418262" cy="369332"/>
            </a:xfrm>
            <a:prstGeom prst="rect">
              <a:avLst/>
            </a:prstGeom>
            <a:noFill/>
            <a:ln w="9525">
              <a:noFill/>
              <a:miter lim="800000"/>
              <a:headEnd/>
              <a:tailEnd/>
            </a:ln>
          </p:spPr>
          <p:txBody>
            <a:bodyPr>
              <a:spAutoFit/>
            </a:bodyPr>
            <a:lstStyle/>
            <a:p>
              <a:r>
                <a:rPr lang="en-US" altLang="ja-JP" dirty="0"/>
                <a:t>0		4		8		12		16		20		24</a:t>
              </a:r>
              <a:r>
                <a:rPr lang="ja-JP" altLang="en-US" dirty="0"/>
                <a:t>ヶ月</a:t>
              </a:r>
            </a:p>
          </p:txBody>
        </p:sp>
        <p:sp>
          <p:nvSpPr>
            <p:cNvPr id="41" name="右中かっこ 40">
              <a:extLst>
                <a:ext uri="{FF2B5EF4-FFF2-40B4-BE49-F238E27FC236}">
                  <a16:creationId xmlns:a16="http://schemas.microsoft.com/office/drawing/2014/main" id="{D6357D47-87EC-44F2-A3C5-163E3471D05D}"/>
                </a:ext>
              </a:extLst>
            </p:cNvPr>
            <p:cNvSpPr>
              <a:spLocks/>
            </p:cNvSpPr>
            <p:nvPr/>
          </p:nvSpPr>
          <p:spPr bwMode="auto">
            <a:xfrm flipH="1">
              <a:off x="7775903" y="4990435"/>
              <a:ext cx="166024" cy="817563"/>
            </a:xfrm>
            <a:prstGeom prst="rightBrace">
              <a:avLst>
                <a:gd name="adj1" fmla="val 7285"/>
                <a:gd name="adj2" fmla="val 50000"/>
              </a:avLst>
            </a:prstGeom>
            <a:noFill/>
            <a:ln w="9525" algn="ctr">
              <a:solidFill>
                <a:schemeClr val="tx1"/>
              </a:solidFill>
              <a:round/>
              <a:headEnd/>
              <a:tailEnd/>
            </a:ln>
          </p:spPr>
          <p:txBody>
            <a:bodyPr anchor="ctr"/>
            <a:lstStyle/>
            <a:p>
              <a:pPr algn="ctr">
                <a:defRPr/>
              </a:pPr>
              <a:endParaRPr lang="ja-JP" altLang="en-US" sz="3600" dirty="0"/>
            </a:p>
          </p:txBody>
        </p:sp>
      </p:grpSp>
    </p:spTree>
    <p:extLst>
      <p:ext uri="{BB962C8B-B14F-4D97-AF65-F5344CB8AC3E}">
        <p14:creationId xmlns:p14="http://schemas.microsoft.com/office/powerpoint/2010/main" val="26663340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8E05458B-EA3C-436D-878C-3F1EB270E0F6}"/>
              </a:ext>
            </a:extLst>
          </p:cNvPr>
          <p:cNvGrpSpPr/>
          <p:nvPr/>
        </p:nvGrpSpPr>
        <p:grpSpPr>
          <a:xfrm>
            <a:off x="6715432" y="1034525"/>
            <a:ext cx="5231232" cy="5288522"/>
            <a:chOff x="6715432" y="1034525"/>
            <a:chExt cx="5231232" cy="5288522"/>
          </a:xfrm>
        </p:grpSpPr>
        <p:sp>
          <p:nvSpPr>
            <p:cNvPr id="5" name="円/楕円 25">
              <a:extLst>
                <a:ext uri="{FF2B5EF4-FFF2-40B4-BE49-F238E27FC236}">
                  <a16:creationId xmlns:a16="http://schemas.microsoft.com/office/drawing/2014/main" id="{E11FE379-6901-48E6-896A-E1868ABE98FF}"/>
                </a:ext>
              </a:extLst>
            </p:cNvPr>
            <p:cNvSpPr/>
            <p:nvPr/>
          </p:nvSpPr>
          <p:spPr>
            <a:xfrm>
              <a:off x="9759864" y="4808872"/>
              <a:ext cx="1167390" cy="1203559"/>
            </a:xfrm>
            <a:prstGeom prst="ellipse">
              <a:avLst/>
            </a:prstGeom>
            <a:noFill/>
            <a:ln w="1905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円/楕円 3">
              <a:extLst>
                <a:ext uri="{FF2B5EF4-FFF2-40B4-BE49-F238E27FC236}">
                  <a16:creationId xmlns:a16="http://schemas.microsoft.com/office/drawing/2014/main" id="{41021112-CA13-4732-9585-DC41E46F959C}"/>
                </a:ext>
              </a:extLst>
            </p:cNvPr>
            <p:cNvSpPr/>
            <p:nvPr/>
          </p:nvSpPr>
          <p:spPr>
            <a:xfrm>
              <a:off x="6715432" y="1730996"/>
              <a:ext cx="1937249" cy="1824790"/>
            </a:xfrm>
            <a:prstGeom prst="ellipse">
              <a:avLst/>
            </a:prstGeom>
            <a:noFill/>
            <a:ln w="1905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円/楕円 4">
              <a:extLst>
                <a:ext uri="{FF2B5EF4-FFF2-40B4-BE49-F238E27FC236}">
                  <a16:creationId xmlns:a16="http://schemas.microsoft.com/office/drawing/2014/main" id="{48944085-6832-4928-B1A2-A261CB35D405}"/>
                </a:ext>
              </a:extLst>
            </p:cNvPr>
            <p:cNvSpPr/>
            <p:nvPr/>
          </p:nvSpPr>
          <p:spPr>
            <a:xfrm>
              <a:off x="7097195" y="2041611"/>
              <a:ext cx="1167390" cy="1203559"/>
            </a:xfrm>
            <a:prstGeom prst="ellipse">
              <a:avLst/>
            </a:prstGeom>
            <a:noFill/>
            <a:ln w="1905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円/楕円 5">
              <a:extLst>
                <a:ext uri="{FF2B5EF4-FFF2-40B4-BE49-F238E27FC236}">
                  <a16:creationId xmlns:a16="http://schemas.microsoft.com/office/drawing/2014/main" id="{EBFDCB53-2308-4B0A-A52D-31D517237D6F}"/>
                </a:ext>
              </a:extLst>
            </p:cNvPr>
            <p:cNvSpPr/>
            <p:nvPr/>
          </p:nvSpPr>
          <p:spPr>
            <a:xfrm>
              <a:off x="7505354" y="2430335"/>
              <a:ext cx="384929" cy="426109"/>
            </a:xfrm>
            <a:prstGeom prst="ellipse">
              <a:avLst/>
            </a:prstGeom>
            <a:noFill/>
            <a:ln w="1905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乗算記号 8">
              <a:extLst>
                <a:ext uri="{FF2B5EF4-FFF2-40B4-BE49-F238E27FC236}">
                  <a16:creationId xmlns:a16="http://schemas.microsoft.com/office/drawing/2014/main" id="{514B30DD-C143-46EE-9F28-2A78042C87D6}"/>
                </a:ext>
              </a:extLst>
            </p:cNvPr>
            <p:cNvSpPr/>
            <p:nvPr/>
          </p:nvSpPr>
          <p:spPr>
            <a:xfrm>
              <a:off x="7816171" y="2416499"/>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乗算記号 9">
              <a:extLst>
                <a:ext uri="{FF2B5EF4-FFF2-40B4-BE49-F238E27FC236}">
                  <a16:creationId xmlns:a16="http://schemas.microsoft.com/office/drawing/2014/main" id="{0C583CA0-7B2E-45C8-9A33-05C9ECC94299}"/>
                </a:ext>
              </a:extLst>
            </p:cNvPr>
            <p:cNvSpPr/>
            <p:nvPr/>
          </p:nvSpPr>
          <p:spPr>
            <a:xfrm>
              <a:off x="7778412" y="2685700"/>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乗算記号 10">
              <a:extLst>
                <a:ext uri="{FF2B5EF4-FFF2-40B4-BE49-F238E27FC236}">
                  <a16:creationId xmlns:a16="http://schemas.microsoft.com/office/drawing/2014/main" id="{16BCB1C7-EC8A-4570-BF43-A09F7736389B}"/>
                </a:ext>
              </a:extLst>
            </p:cNvPr>
            <p:cNvSpPr/>
            <p:nvPr/>
          </p:nvSpPr>
          <p:spPr>
            <a:xfrm>
              <a:off x="7469356" y="2716187"/>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乗算記号 11">
              <a:extLst>
                <a:ext uri="{FF2B5EF4-FFF2-40B4-BE49-F238E27FC236}">
                  <a16:creationId xmlns:a16="http://schemas.microsoft.com/office/drawing/2014/main" id="{84BCB9F4-0AB4-4302-90DD-8FE1E6380241}"/>
                </a:ext>
              </a:extLst>
            </p:cNvPr>
            <p:cNvSpPr/>
            <p:nvPr/>
          </p:nvSpPr>
          <p:spPr>
            <a:xfrm>
              <a:off x="7381029" y="2275027"/>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円/楕円 10">
              <a:extLst>
                <a:ext uri="{FF2B5EF4-FFF2-40B4-BE49-F238E27FC236}">
                  <a16:creationId xmlns:a16="http://schemas.microsoft.com/office/drawing/2014/main" id="{41810D8D-61E6-4D83-91D7-0D109A1C4CF4}"/>
                </a:ext>
              </a:extLst>
            </p:cNvPr>
            <p:cNvSpPr/>
            <p:nvPr/>
          </p:nvSpPr>
          <p:spPr>
            <a:xfrm>
              <a:off x="9378101" y="1730996"/>
              <a:ext cx="1937249" cy="1824790"/>
            </a:xfrm>
            <a:prstGeom prst="ellipse">
              <a:avLst/>
            </a:prstGeom>
            <a:noFill/>
            <a:ln w="1905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円/楕円 11">
              <a:extLst>
                <a:ext uri="{FF2B5EF4-FFF2-40B4-BE49-F238E27FC236}">
                  <a16:creationId xmlns:a16="http://schemas.microsoft.com/office/drawing/2014/main" id="{4E3AE48B-2B4C-4C97-AEE8-D703FC05CD66}"/>
                </a:ext>
              </a:extLst>
            </p:cNvPr>
            <p:cNvSpPr/>
            <p:nvPr/>
          </p:nvSpPr>
          <p:spPr>
            <a:xfrm>
              <a:off x="9759864" y="2041611"/>
              <a:ext cx="1167390" cy="1203559"/>
            </a:xfrm>
            <a:prstGeom prst="ellipse">
              <a:avLst/>
            </a:prstGeom>
            <a:noFill/>
            <a:ln w="1905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円/楕円 12">
              <a:extLst>
                <a:ext uri="{FF2B5EF4-FFF2-40B4-BE49-F238E27FC236}">
                  <a16:creationId xmlns:a16="http://schemas.microsoft.com/office/drawing/2014/main" id="{4AA24300-D032-41E1-ABAE-BFCC7B2D585B}"/>
                </a:ext>
              </a:extLst>
            </p:cNvPr>
            <p:cNvSpPr/>
            <p:nvPr/>
          </p:nvSpPr>
          <p:spPr>
            <a:xfrm>
              <a:off x="10168023" y="2430335"/>
              <a:ext cx="384929" cy="426109"/>
            </a:xfrm>
            <a:prstGeom prst="ellipse">
              <a:avLst/>
            </a:prstGeom>
            <a:noFill/>
            <a:ln w="1905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乗算記号 15">
              <a:extLst>
                <a:ext uri="{FF2B5EF4-FFF2-40B4-BE49-F238E27FC236}">
                  <a16:creationId xmlns:a16="http://schemas.microsoft.com/office/drawing/2014/main" id="{8FA8D13F-97A3-4460-927B-A0281235F4BF}"/>
                </a:ext>
              </a:extLst>
            </p:cNvPr>
            <p:cNvSpPr/>
            <p:nvPr/>
          </p:nvSpPr>
          <p:spPr>
            <a:xfrm>
              <a:off x="10968014" y="2212880"/>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乗算記号 16">
              <a:extLst>
                <a:ext uri="{FF2B5EF4-FFF2-40B4-BE49-F238E27FC236}">
                  <a16:creationId xmlns:a16="http://schemas.microsoft.com/office/drawing/2014/main" id="{CD468630-8D85-4D00-AC6D-DB91BB6FCEAA}"/>
                </a:ext>
              </a:extLst>
            </p:cNvPr>
            <p:cNvSpPr/>
            <p:nvPr/>
          </p:nvSpPr>
          <p:spPr>
            <a:xfrm>
              <a:off x="10477364" y="2523496"/>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乗算記号 17">
              <a:extLst>
                <a:ext uri="{FF2B5EF4-FFF2-40B4-BE49-F238E27FC236}">
                  <a16:creationId xmlns:a16="http://schemas.microsoft.com/office/drawing/2014/main" id="{C93BC16B-F283-4B48-9513-5C05B6DCC621}"/>
                </a:ext>
              </a:extLst>
            </p:cNvPr>
            <p:cNvSpPr/>
            <p:nvPr/>
          </p:nvSpPr>
          <p:spPr>
            <a:xfrm>
              <a:off x="9730460" y="2823729"/>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乗算記号 18">
              <a:extLst>
                <a:ext uri="{FF2B5EF4-FFF2-40B4-BE49-F238E27FC236}">
                  <a16:creationId xmlns:a16="http://schemas.microsoft.com/office/drawing/2014/main" id="{F5B5FC28-2DA8-4A61-9045-C8D8F298CC9E}"/>
                </a:ext>
              </a:extLst>
            </p:cNvPr>
            <p:cNvSpPr/>
            <p:nvPr/>
          </p:nvSpPr>
          <p:spPr>
            <a:xfrm>
              <a:off x="9857416" y="1958429"/>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円/楕円 17">
              <a:extLst>
                <a:ext uri="{FF2B5EF4-FFF2-40B4-BE49-F238E27FC236}">
                  <a16:creationId xmlns:a16="http://schemas.microsoft.com/office/drawing/2014/main" id="{B33DD5E0-0D91-4680-9921-5F35FDD0A8A7}"/>
                </a:ext>
              </a:extLst>
            </p:cNvPr>
            <p:cNvSpPr/>
            <p:nvPr/>
          </p:nvSpPr>
          <p:spPr>
            <a:xfrm>
              <a:off x="6715432" y="4498257"/>
              <a:ext cx="1937249" cy="1824790"/>
            </a:xfrm>
            <a:prstGeom prst="ellipse">
              <a:avLst/>
            </a:prstGeom>
            <a:noFill/>
            <a:ln w="1905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円/楕円 18">
              <a:extLst>
                <a:ext uri="{FF2B5EF4-FFF2-40B4-BE49-F238E27FC236}">
                  <a16:creationId xmlns:a16="http://schemas.microsoft.com/office/drawing/2014/main" id="{2F3447A2-52A6-4C4C-99E2-3CE8AF050B96}"/>
                </a:ext>
              </a:extLst>
            </p:cNvPr>
            <p:cNvSpPr/>
            <p:nvPr/>
          </p:nvSpPr>
          <p:spPr>
            <a:xfrm>
              <a:off x="7097195" y="4808872"/>
              <a:ext cx="1167390" cy="1203559"/>
            </a:xfrm>
            <a:prstGeom prst="ellipse">
              <a:avLst/>
            </a:prstGeom>
            <a:noFill/>
            <a:ln w="1905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円/楕円 19">
              <a:extLst>
                <a:ext uri="{FF2B5EF4-FFF2-40B4-BE49-F238E27FC236}">
                  <a16:creationId xmlns:a16="http://schemas.microsoft.com/office/drawing/2014/main" id="{DDEC9FE5-4A32-457C-A772-F4ADFB53261B}"/>
                </a:ext>
              </a:extLst>
            </p:cNvPr>
            <p:cNvSpPr/>
            <p:nvPr/>
          </p:nvSpPr>
          <p:spPr>
            <a:xfrm>
              <a:off x="7505354" y="5197596"/>
              <a:ext cx="384929" cy="426109"/>
            </a:xfrm>
            <a:prstGeom prst="ellipse">
              <a:avLst/>
            </a:prstGeom>
            <a:noFill/>
            <a:ln w="1905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乗算記号 22">
              <a:extLst>
                <a:ext uri="{FF2B5EF4-FFF2-40B4-BE49-F238E27FC236}">
                  <a16:creationId xmlns:a16="http://schemas.microsoft.com/office/drawing/2014/main" id="{D2B66A2B-5910-4732-8002-23334F8C48EB}"/>
                </a:ext>
              </a:extLst>
            </p:cNvPr>
            <p:cNvSpPr/>
            <p:nvPr/>
          </p:nvSpPr>
          <p:spPr>
            <a:xfrm>
              <a:off x="8728908" y="5054455"/>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乗算記号 23">
              <a:extLst>
                <a:ext uri="{FF2B5EF4-FFF2-40B4-BE49-F238E27FC236}">
                  <a16:creationId xmlns:a16="http://schemas.microsoft.com/office/drawing/2014/main" id="{39980FAB-3EBF-4375-A82D-68A15A8AC752}"/>
                </a:ext>
              </a:extLst>
            </p:cNvPr>
            <p:cNvSpPr/>
            <p:nvPr/>
          </p:nvSpPr>
          <p:spPr>
            <a:xfrm>
              <a:off x="8696485" y="4576364"/>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乗算記号 24">
              <a:extLst>
                <a:ext uri="{FF2B5EF4-FFF2-40B4-BE49-F238E27FC236}">
                  <a16:creationId xmlns:a16="http://schemas.microsoft.com/office/drawing/2014/main" id="{28E94297-B88F-4908-8029-14A2A67B7719}"/>
                </a:ext>
              </a:extLst>
            </p:cNvPr>
            <p:cNvSpPr/>
            <p:nvPr/>
          </p:nvSpPr>
          <p:spPr>
            <a:xfrm>
              <a:off x="8301791" y="5054455"/>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乗算記号 25">
              <a:extLst>
                <a:ext uri="{FF2B5EF4-FFF2-40B4-BE49-F238E27FC236}">
                  <a16:creationId xmlns:a16="http://schemas.microsoft.com/office/drawing/2014/main" id="{B5020D66-07D8-4061-9C98-2CC37BAB13CB}"/>
                </a:ext>
              </a:extLst>
            </p:cNvPr>
            <p:cNvSpPr/>
            <p:nvPr/>
          </p:nvSpPr>
          <p:spPr>
            <a:xfrm>
              <a:off x="8310157" y="4685186"/>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円/楕円 24">
              <a:extLst>
                <a:ext uri="{FF2B5EF4-FFF2-40B4-BE49-F238E27FC236}">
                  <a16:creationId xmlns:a16="http://schemas.microsoft.com/office/drawing/2014/main" id="{0B52978A-C794-413B-A2EA-06890F18C6EB}"/>
                </a:ext>
              </a:extLst>
            </p:cNvPr>
            <p:cNvSpPr/>
            <p:nvPr/>
          </p:nvSpPr>
          <p:spPr>
            <a:xfrm>
              <a:off x="9378101" y="4498257"/>
              <a:ext cx="1937249" cy="1824790"/>
            </a:xfrm>
            <a:prstGeom prst="ellipse">
              <a:avLst/>
            </a:prstGeom>
            <a:noFill/>
            <a:ln w="1905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円/楕円 26">
              <a:extLst>
                <a:ext uri="{FF2B5EF4-FFF2-40B4-BE49-F238E27FC236}">
                  <a16:creationId xmlns:a16="http://schemas.microsoft.com/office/drawing/2014/main" id="{9F725315-58B9-4120-A9E6-F67C0A735E30}"/>
                </a:ext>
              </a:extLst>
            </p:cNvPr>
            <p:cNvSpPr/>
            <p:nvPr/>
          </p:nvSpPr>
          <p:spPr>
            <a:xfrm>
              <a:off x="10168023" y="5197596"/>
              <a:ext cx="384929" cy="426109"/>
            </a:xfrm>
            <a:prstGeom prst="ellipse">
              <a:avLst/>
            </a:prstGeom>
            <a:noFill/>
            <a:ln w="1905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乗算記号 28">
              <a:extLst>
                <a:ext uri="{FF2B5EF4-FFF2-40B4-BE49-F238E27FC236}">
                  <a16:creationId xmlns:a16="http://schemas.microsoft.com/office/drawing/2014/main" id="{FFB5A211-2339-4F88-8868-9E669A880A7B}"/>
                </a:ext>
              </a:extLst>
            </p:cNvPr>
            <p:cNvSpPr/>
            <p:nvPr/>
          </p:nvSpPr>
          <p:spPr>
            <a:xfrm>
              <a:off x="10630338" y="4887384"/>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乗算記号 29">
              <a:extLst>
                <a:ext uri="{FF2B5EF4-FFF2-40B4-BE49-F238E27FC236}">
                  <a16:creationId xmlns:a16="http://schemas.microsoft.com/office/drawing/2014/main" id="{23719EE1-508F-4553-8C24-9F46276B6C72}"/>
                </a:ext>
              </a:extLst>
            </p:cNvPr>
            <p:cNvSpPr/>
            <p:nvPr/>
          </p:nvSpPr>
          <p:spPr>
            <a:xfrm>
              <a:off x="10777624" y="5553577"/>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乗算記号 30">
              <a:extLst>
                <a:ext uri="{FF2B5EF4-FFF2-40B4-BE49-F238E27FC236}">
                  <a16:creationId xmlns:a16="http://schemas.microsoft.com/office/drawing/2014/main" id="{8B2F8FF2-9549-4377-AE0A-D182CB40922C}"/>
                </a:ext>
              </a:extLst>
            </p:cNvPr>
            <p:cNvSpPr/>
            <p:nvPr/>
          </p:nvSpPr>
          <p:spPr>
            <a:xfrm>
              <a:off x="11188010" y="5034969"/>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乗算記号 31">
              <a:extLst>
                <a:ext uri="{FF2B5EF4-FFF2-40B4-BE49-F238E27FC236}">
                  <a16:creationId xmlns:a16="http://schemas.microsoft.com/office/drawing/2014/main" id="{1AC3F630-034E-4D18-A4DE-11EB0D2485DB}"/>
                </a:ext>
              </a:extLst>
            </p:cNvPr>
            <p:cNvSpPr/>
            <p:nvPr/>
          </p:nvSpPr>
          <p:spPr>
            <a:xfrm>
              <a:off x="11581518" y="4798346"/>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531E8A41-7274-44D5-A930-46BD6553375A}"/>
                </a:ext>
              </a:extLst>
            </p:cNvPr>
            <p:cNvSpPr txBox="1"/>
            <p:nvPr/>
          </p:nvSpPr>
          <p:spPr>
            <a:xfrm>
              <a:off x="6965991" y="1034525"/>
              <a:ext cx="1684912" cy="646331"/>
            </a:xfrm>
            <a:prstGeom prst="rect">
              <a:avLst/>
            </a:prstGeom>
            <a:noFill/>
          </p:spPr>
          <p:txBody>
            <a:bodyPr wrap="square" rtlCol="0">
              <a:spAutoFit/>
            </a:bodyPr>
            <a:lstStyle/>
            <a:p>
              <a:r>
                <a:rPr kumimoji="1" lang="ja-JP" altLang="en-US" dirty="0"/>
                <a:t>バラツキ</a:t>
              </a:r>
              <a:r>
                <a:rPr lang="ja-JP" altLang="en-US" dirty="0"/>
                <a:t>小</a:t>
              </a:r>
              <a:endParaRPr kumimoji="1" lang="en-US" altLang="ja-JP" dirty="0"/>
            </a:p>
            <a:p>
              <a:r>
                <a:rPr lang="ja-JP" altLang="en-US" dirty="0"/>
                <a:t>バイアス小</a:t>
              </a:r>
              <a:endParaRPr kumimoji="1" lang="ja-JP" altLang="en-US" dirty="0"/>
            </a:p>
          </p:txBody>
        </p:sp>
        <p:sp>
          <p:nvSpPr>
            <p:cNvPr id="34" name="テキスト ボックス 33">
              <a:extLst>
                <a:ext uri="{FF2B5EF4-FFF2-40B4-BE49-F238E27FC236}">
                  <a16:creationId xmlns:a16="http://schemas.microsoft.com/office/drawing/2014/main" id="{DB2B4642-5F36-4CEB-902A-40183AA6B7DC}"/>
                </a:ext>
              </a:extLst>
            </p:cNvPr>
            <p:cNvSpPr txBox="1"/>
            <p:nvPr/>
          </p:nvSpPr>
          <p:spPr>
            <a:xfrm>
              <a:off x="9589242" y="1034525"/>
              <a:ext cx="1684912" cy="646331"/>
            </a:xfrm>
            <a:prstGeom prst="rect">
              <a:avLst/>
            </a:prstGeom>
            <a:noFill/>
          </p:spPr>
          <p:txBody>
            <a:bodyPr wrap="square" rtlCol="0">
              <a:spAutoFit/>
            </a:bodyPr>
            <a:lstStyle/>
            <a:p>
              <a:r>
                <a:rPr kumimoji="1" lang="ja-JP" altLang="en-US" dirty="0"/>
                <a:t>バラツキ</a:t>
              </a:r>
              <a:r>
                <a:rPr lang="ja-JP" altLang="en-US" dirty="0"/>
                <a:t>大</a:t>
              </a:r>
              <a:endParaRPr kumimoji="1" lang="en-US" altLang="ja-JP" dirty="0"/>
            </a:p>
            <a:p>
              <a:r>
                <a:rPr lang="ja-JP" altLang="en-US" dirty="0"/>
                <a:t>バイアス小</a:t>
              </a:r>
              <a:endParaRPr kumimoji="1" lang="ja-JP" altLang="en-US" dirty="0"/>
            </a:p>
          </p:txBody>
        </p:sp>
        <p:sp>
          <p:nvSpPr>
            <p:cNvPr id="35" name="テキスト ボックス 34">
              <a:extLst>
                <a:ext uri="{FF2B5EF4-FFF2-40B4-BE49-F238E27FC236}">
                  <a16:creationId xmlns:a16="http://schemas.microsoft.com/office/drawing/2014/main" id="{5F45AEF9-D723-4502-9B87-225DCE7E95E4}"/>
                </a:ext>
              </a:extLst>
            </p:cNvPr>
            <p:cNvSpPr txBox="1"/>
            <p:nvPr/>
          </p:nvSpPr>
          <p:spPr>
            <a:xfrm>
              <a:off x="6961327" y="3785213"/>
              <a:ext cx="1684912" cy="646331"/>
            </a:xfrm>
            <a:prstGeom prst="rect">
              <a:avLst/>
            </a:prstGeom>
            <a:noFill/>
          </p:spPr>
          <p:txBody>
            <a:bodyPr wrap="square" rtlCol="0">
              <a:spAutoFit/>
            </a:bodyPr>
            <a:lstStyle/>
            <a:p>
              <a:r>
                <a:rPr kumimoji="1" lang="ja-JP" altLang="en-US" dirty="0"/>
                <a:t>バラツキ</a:t>
              </a:r>
              <a:r>
                <a:rPr lang="ja-JP" altLang="en-US" dirty="0"/>
                <a:t>小</a:t>
              </a:r>
              <a:endParaRPr kumimoji="1" lang="en-US" altLang="ja-JP" dirty="0"/>
            </a:p>
            <a:p>
              <a:r>
                <a:rPr lang="ja-JP" altLang="en-US" dirty="0"/>
                <a:t>バイアス大</a:t>
              </a:r>
              <a:endParaRPr kumimoji="1" lang="ja-JP" altLang="en-US" dirty="0"/>
            </a:p>
          </p:txBody>
        </p:sp>
        <p:sp>
          <p:nvSpPr>
            <p:cNvPr id="36" name="テキスト ボックス 35">
              <a:extLst>
                <a:ext uri="{FF2B5EF4-FFF2-40B4-BE49-F238E27FC236}">
                  <a16:creationId xmlns:a16="http://schemas.microsoft.com/office/drawing/2014/main" id="{B8D752E6-D054-4ECB-B636-1A780B192D66}"/>
                </a:ext>
              </a:extLst>
            </p:cNvPr>
            <p:cNvSpPr txBox="1"/>
            <p:nvPr/>
          </p:nvSpPr>
          <p:spPr>
            <a:xfrm>
              <a:off x="9584578" y="3785213"/>
              <a:ext cx="1684912" cy="646331"/>
            </a:xfrm>
            <a:prstGeom prst="rect">
              <a:avLst/>
            </a:prstGeom>
            <a:noFill/>
          </p:spPr>
          <p:txBody>
            <a:bodyPr wrap="square" rtlCol="0">
              <a:spAutoFit/>
            </a:bodyPr>
            <a:lstStyle/>
            <a:p>
              <a:r>
                <a:rPr kumimoji="1" lang="ja-JP" altLang="en-US" dirty="0"/>
                <a:t>バラツキ</a:t>
              </a:r>
              <a:r>
                <a:rPr lang="ja-JP" altLang="en-US" dirty="0"/>
                <a:t>大</a:t>
              </a:r>
              <a:endParaRPr kumimoji="1" lang="en-US" altLang="ja-JP" dirty="0"/>
            </a:p>
            <a:p>
              <a:r>
                <a:rPr lang="ja-JP" altLang="en-US" dirty="0"/>
                <a:t>バイアス大</a:t>
              </a:r>
              <a:endParaRPr kumimoji="1" lang="ja-JP" altLang="en-US" dirty="0"/>
            </a:p>
          </p:txBody>
        </p:sp>
        <p:sp>
          <p:nvSpPr>
            <p:cNvPr id="37" name="乗算記号 36">
              <a:extLst>
                <a:ext uri="{FF2B5EF4-FFF2-40B4-BE49-F238E27FC236}">
                  <a16:creationId xmlns:a16="http://schemas.microsoft.com/office/drawing/2014/main" id="{DE6D2220-BDA7-4A09-B527-2EB2E8DE92CC}"/>
                </a:ext>
              </a:extLst>
            </p:cNvPr>
            <p:cNvSpPr/>
            <p:nvPr/>
          </p:nvSpPr>
          <p:spPr>
            <a:xfrm>
              <a:off x="7599018" y="2419975"/>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乗算記号 37">
              <a:extLst>
                <a:ext uri="{FF2B5EF4-FFF2-40B4-BE49-F238E27FC236}">
                  <a16:creationId xmlns:a16="http://schemas.microsoft.com/office/drawing/2014/main" id="{C557B7AE-1DBB-48E5-BE31-7F987A1417A5}"/>
                </a:ext>
              </a:extLst>
            </p:cNvPr>
            <p:cNvSpPr/>
            <p:nvPr/>
          </p:nvSpPr>
          <p:spPr>
            <a:xfrm>
              <a:off x="8560249" y="4815410"/>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乗算記号 38">
              <a:extLst>
                <a:ext uri="{FF2B5EF4-FFF2-40B4-BE49-F238E27FC236}">
                  <a16:creationId xmlns:a16="http://schemas.microsoft.com/office/drawing/2014/main" id="{D8EEBBF3-F74E-434D-8F1E-DE87D7F850E1}"/>
                </a:ext>
              </a:extLst>
            </p:cNvPr>
            <p:cNvSpPr/>
            <p:nvPr/>
          </p:nvSpPr>
          <p:spPr>
            <a:xfrm>
              <a:off x="10394121" y="3148809"/>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乗算記号 39">
              <a:extLst>
                <a:ext uri="{FF2B5EF4-FFF2-40B4-BE49-F238E27FC236}">
                  <a16:creationId xmlns:a16="http://schemas.microsoft.com/office/drawing/2014/main" id="{CC1E714B-2CCA-44C5-85FE-24630ABFB114}"/>
                </a:ext>
              </a:extLst>
            </p:cNvPr>
            <p:cNvSpPr/>
            <p:nvPr/>
          </p:nvSpPr>
          <p:spPr>
            <a:xfrm>
              <a:off x="11653925" y="5398269"/>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乗算記号 40">
              <a:extLst>
                <a:ext uri="{FF2B5EF4-FFF2-40B4-BE49-F238E27FC236}">
                  <a16:creationId xmlns:a16="http://schemas.microsoft.com/office/drawing/2014/main" id="{822BA481-7D6F-401D-9C8A-2F3FC931E9AB}"/>
                </a:ext>
              </a:extLst>
            </p:cNvPr>
            <p:cNvSpPr/>
            <p:nvPr/>
          </p:nvSpPr>
          <p:spPr>
            <a:xfrm>
              <a:off x="10975165" y="2685700"/>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乗算記号 41">
              <a:extLst>
                <a:ext uri="{FF2B5EF4-FFF2-40B4-BE49-F238E27FC236}">
                  <a16:creationId xmlns:a16="http://schemas.microsoft.com/office/drawing/2014/main" id="{2D809526-D8C1-41DE-850D-E2CD0C67A3CA}"/>
                </a:ext>
              </a:extLst>
            </p:cNvPr>
            <p:cNvSpPr/>
            <p:nvPr/>
          </p:nvSpPr>
          <p:spPr>
            <a:xfrm>
              <a:off x="7726302" y="2138814"/>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乗算記号 42">
              <a:extLst>
                <a:ext uri="{FF2B5EF4-FFF2-40B4-BE49-F238E27FC236}">
                  <a16:creationId xmlns:a16="http://schemas.microsoft.com/office/drawing/2014/main" id="{D9E3DD91-4C1A-42FD-BAFF-88882EB878F8}"/>
                </a:ext>
              </a:extLst>
            </p:cNvPr>
            <p:cNvSpPr/>
            <p:nvPr/>
          </p:nvSpPr>
          <p:spPr>
            <a:xfrm>
              <a:off x="11295326" y="4294657"/>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乗算記号 43">
              <a:extLst>
                <a:ext uri="{FF2B5EF4-FFF2-40B4-BE49-F238E27FC236}">
                  <a16:creationId xmlns:a16="http://schemas.microsoft.com/office/drawing/2014/main" id="{A5BCF2D6-7E87-4D08-8D95-F2C5A34767EC}"/>
                </a:ext>
              </a:extLst>
            </p:cNvPr>
            <p:cNvSpPr/>
            <p:nvPr/>
          </p:nvSpPr>
          <p:spPr>
            <a:xfrm>
              <a:off x="8578998" y="5315410"/>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204775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グループ化 1">
            <a:extLst>
              <a:ext uri="{FF2B5EF4-FFF2-40B4-BE49-F238E27FC236}">
                <a16:creationId xmlns:a16="http://schemas.microsoft.com/office/drawing/2014/main" id="{A224B17F-34D2-4A06-8763-9447D0ED9AB0}"/>
              </a:ext>
            </a:extLst>
          </p:cNvPr>
          <p:cNvGrpSpPr/>
          <p:nvPr/>
        </p:nvGrpSpPr>
        <p:grpSpPr>
          <a:xfrm>
            <a:off x="6715432" y="1044357"/>
            <a:ext cx="5231232" cy="5278690"/>
            <a:chOff x="6715432" y="1044357"/>
            <a:chExt cx="5231232" cy="5278690"/>
          </a:xfrm>
        </p:grpSpPr>
        <p:sp>
          <p:nvSpPr>
            <p:cNvPr id="5" name="円/楕円 25">
              <a:extLst>
                <a:ext uri="{FF2B5EF4-FFF2-40B4-BE49-F238E27FC236}">
                  <a16:creationId xmlns:a16="http://schemas.microsoft.com/office/drawing/2014/main" id="{E11FE379-6901-48E6-896A-E1868ABE98FF}"/>
                </a:ext>
              </a:extLst>
            </p:cNvPr>
            <p:cNvSpPr/>
            <p:nvPr/>
          </p:nvSpPr>
          <p:spPr>
            <a:xfrm>
              <a:off x="9759864" y="4808872"/>
              <a:ext cx="1167390" cy="1203559"/>
            </a:xfrm>
            <a:prstGeom prst="ellipse">
              <a:avLst/>
            </a:prstGeom>
            <a:noFill/>
            <a:ln w="1905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Times New Roman" panose="02020603050405020304" pitchFamily="18" charset="0"/>
                <a:cs typeface="Times New Roman" panose="02020603050405020304" pitchFamily="18" charset="0"/>
              </a:endParaRPr>
            </a:p>
          </p:txBody>
        </p:sp>
        <p:sp>
          <p:nvSpPr>
            <p:cNvPr id="6" name="円/楕円 3">
              <a:extLst>
                <a:ext uri="{FF2B5EF4-FFF2-40B4-BE49-F238E27FC236}">
                  <a16:creationId xmlns:a16="http://schemas.microsoft.com/office/drawing/2014/main" id="{41021112-CA13-4732-9585-DC41E46F959C}"/>
                </a:ext>
              </a:extLst>
            </p:cNvPr>
            <p:cNvSpPr/>
            <p:nvPr/>
          </p:nvSpPr>
          <p:spPr>
            <a:xfrm>
              <a:off x="6715432" y="1730996"/>
              <a:ext cx="1937249" cy="1824790"/>
            </a:xfrm>
            <a:prstGeom prst="ellipse">
              <a:avLst/>
            </a:prstGeom>
            <a:noFill/>
            <a:ln w="1905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Times New Roman" panose="02020603050405020304" pitchFamily="18" charset="0"/>
                <a:cs typeface="Times New Roman" panose="02020603050405020304" pitchFamily="18" charset="0"/>
              </a:endParaRPr>
            </a:p>
          </p:txBody>
        </p:sp>
        <p:sp>
          <p:nvSpPr>
            <p:cNvPr id="7" name="円/楕円 4">
              <a:extLst>
                <a:ext uri="{FF2B5EF4-FFF2-40B4-BE49-F238E27FC236}">
                  <a16:creationId xmlns:a16="http://schemas.microsoft.com/office/drawing/2014/main" id="{48944085-6832-4928-B1A2-A261CB35D405}"/>
                </a:ext>
              </a:extLst>
            </p:cNvPr>
            <p:cNvSpPr/>
            <p:nvPr/>
          </p:nvSpPr>
          <p:spPr>
            <a:xfrm>
              <a:off x="7097195" y="2041611"/>
              <a:ext cx="1167390" cy="1203559"/>
            </a:xfrm>
            <a:prstGeom prst="ellipse">
              <a:avLst/>
            </a:prstGeom>
            <a:noFill/>
            <a:ln w="1905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Times New Roman" panose="02020603050405020304" pitchFamily="18" charset="0"/>
                <a:cs typeface="Times New Roman" panose="02020603050405020304" pitchFamily="18" charset="0"/>
              </a:endParaRPr>
            </a:p>
          </p:txBody>
        </p:sp>
        <p:sp>
          <p:nvSpPr>
            <p:cNvPr id="8" name="円/楕円 5">
              <a:extLst>
                <a:ext uri="{FF2B5EF4-FFF2-40B4-BE49-F238E27FC236}">
                  <a16:creationId xmlns:a16="http://schemas.microsoft.com/office/drawing/2014/main" id="{EBFDCB53-2308-4B0A-A52D-31D517237D6F}"/>
                </a:ext>
              </a:extLst>
            </p:cNvPr>
            <p:cNvSpPr/>
            <p:nvPr/>
          </p:nvSpPr>
          <p:spPr>
            <a:xfrm>
              <a:off x="7505354" y="2430335"/>
              <a:ext cx="384929" cy="426109"/>
            </a:xfrm>
            <a:prstGeom prst="ellipse">
              <a:avLst/>
            </a:prstGeom>
            <a:noFill/>
            <a:ln w="1905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Times New Roman" panose="02020603050405020304" pitchFamily="18" charset="0"/>
                <a:cs typeface="Times New Roman" panose="02020603050405020304" pitchFamily="18" charset="0"/>
              </a:endParaRPr>
            </a:p>
          </p:txBody>
        </p:sp>
        <p:sp>
          <p:nvSpPr>
            <p:cNvPr id="9" name="乗算記号 8">
              <a:extLst>
                <a:ext uri="{FF2B5EF4-FFF2-40B4-BE49-F238E27FC236}">
                  <a16:creationId xmlns:a16="http://schemas.microsoft.com/office/drawing/2014/main" id="{514B30DD-C143-46EE-9F28-2A78042C87D6}"/>
                </a:ext>
              </a:extLst>
            </p:cNvPr>
            <p:cNvSpPr/>
            <p:nvPr/>
          </p:nvSpPr>
          <p:spPr>
            <a:xfrm>
              <a:off x="7816171" y="2416499"/>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Times New Roman" panose="02020603050405020304" pitchFamily="18" charset="0"/>
                <a:cs typeface="Times New Roman" panose="02020603050405020304" pitchFamily="18" charset="0"/>
              </a:endParaRPr>
            </a:p>
          </p:txBody>
        </p:sp>
        <p:sp>
          <p:nvSpPr>
            <p:cNvPr id="10" name="乗算記号 9">
              <a:extLst>
                <a:ext uri="{FF2B5EF4-FFF2-40B4-BE49-F238E27FC236}">
                  <a16:creationId xmlns:a16="http://schemas.microsoft.com/office/drawing/2014/main" id="{0C583CA0-7B2E-45C8-9A33-05C9ECC94299}"/>
                </a:ext>
              </a:extLst>
            </p:cNvPr>
            <p:cNvSpPr/>
            <p:nvPr/>
          </p:nvSpPr>
          <p:spPr>
            <a:xfrm>
              <a:off x="7778412" y="2685700"/>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Times New Roman" panose="02020603050405020304" pitchFamily="18" charset="0"/>
                <a:cs typeface="Times New Roman" panose="02020603050405020304" pitchFamily="18" charset="0"/>
              </a:endParaRPr>
            </a:p>
          </p:txBody>
        </p:sp>
        <p:sp>
          <p:nvSpPr>
            <p:cNvPr id="11" name="乗算記号 10">
              <a:extLst>
                <a:ext uri="{FF2B5EF4-FFF2-40B4-BE49-F238E27FC236}">
                  <a16:creationId xmlns:a16="http://schemas.microsoft.com/office/drawing/2014/main" id="{16BCB1C7-EC8A-4570-BF43-A09F7736389B}"/>
                </a:ext>
              </a:extLst>
            </p:cNvPr>
            <p:cNvSpPr/>
            <p:nvPr/>
          </p:nvSpPr>
          <p:spPr>
            <a:xfrm>
              <a:off x="7469356" y="2716187"/>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Times New Roman" panose="02020603050405020304" pitchFamily="18" charset="0"/>
                <a:cs typeface="Times New Roman" panose="02020603050405020304" pitchFamily="18" charset="0"/>
              </a:endParaRPr>
            </a:p>
          </p:txBody>
        </p:sp>
        <p:sp>
          <p:nvSpPr>
            <p:cNvPr id="12" name="乗算記号 11">
              <a:extLst>
                <a:ext uri="{FF2B5EF4-FFF2-40B4-BE49-F238E27FC236}">
                  <a16:creationId xmlns:a16="http://schemas.microsoft.com/office/drawing/2014/main" id="{84BCB9F4-0AB4-4302-90DD-8FE1E6380241}"/>
                </a:ext>
              </a:extLst>
            </p:cNvPr>
            <p:cNvSpPr/>
            <p:nvPr/>
          </p:nvSpPr>
          <p:spPr>
            <a:xfrm>
              <a:off x="7381029" y="2275027"/>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Times New Roman" panose="02020603050405020304" pitchFamily="18" charset="0"/>
                <a:cs typeface="Times New Roman" panose="02020603050405020304" pitchFamily="18" charset="0"/>
              </a:endParaRPr>
            </a:p>
          </p:txBody>
        </p:sp>
        <p:sp>
          <p:nvSpPr>
            <p:cNvPr id="13" name="円/楕円 10">
              <a:extLst>
                <a:ext uri="{FF2B5EF4-FFF2-40B4-BE49-F238E27FC236}">
                  <a16:creationId xmlns:a16="http://schemas.microsoft.com/office/drawing/2014/main" id="{41810D8D-61E6-4D83-91D7-0D109A1C4CF4}"/>
                </a:ext>
              </a:extLst>
            </p:cNvPr>
            <p:cNvSpPr/>
            <p:nvPr/>
          </p:nvSpPr>
          <p:spPr>
            <a:xfrm>
              <a:off x="9378101" y="1730996"/>
              <a:ext cx="1937249" cy="1824790"/>
            </a:xfrm>
            <a:prstGeom prst="ellipse">
              <a:avLst/>
            </a:prstGeom>
            <a:noFill/>
            <a:ln w="1905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Times New Roman" panose="02020603050405020304" pitchFamily="18" charset="0"/>
                <a:cs typeface="Times New Roman" panose="02020603050405020304" pitchFamily="18" charset="0"/>
              </a:endParaRPr>
            </a:p>
          </p:txBody>
        </p:sp>
        <p:sp>
          <p:nvSpPr>
            <p:cNvPr id="14" name="円/楕円 11">
              <a:extLst>
                <a:ext uri="{FF2B5EF4-FFF2-40B4-BE49-F238E27FC236}">
                  <a16:creationId xmlns:a16="http://schemas.microsoft.com/office/drawing/2014/main" id="{4E3AE48B-2B4C-4C97-AEE8-D703FC05CD66}"/>
                </a:ext>
              </a:extLst>
            </p:cNvPr>
            <p:cNvSpPr/>
            <p:nvPr/>
          </p:nvSpPr>
          <p:spPr>
            <a:xfrm>
              <a:off x="9759864" y="2041611"/>
              <a:ext cx="1167390" cy="1203559"/>
            </a:xfrm>
            <a:prstGeom prst="ellipse">
              <a:avLst/>
            </a:prstGeom>
            <a:noFill/>
            <a:ln w="1905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Times New Roman" panose="02020603050405020304" pitchFamily="18" charset="0"/>
                <a:cs typeface="Times New Roman" panose="02020603050405020304" pitchFamily="18" charset="0"/>
              </a:endParaRPr>
            </a:p>
          </p:txBody>
        </p:sp>
        <p:sp>
          <p:nvSpPr>
            <p:cNvPr id="15" name="円/楕円 12">
              <a:extLst>
                <a:ext uri="{FF2B5EF4-FFF2-40B4-BE49-F238E27FC236}">
                  <a16:creationId xmlns:a16="http://schemas.microsoft.com/office/drawing/2014/main" id="{4AA24300-D032-41E1-ABAE-BFCC7B2D585B}"/>
                </a:ext>
              </a:extLst>
            </p:cNvPr>
            <p:cNvSpPr/>
            <p:nvPr/>
          </p:nvSpPr>
          <p:spPr>
            <a:xfrm>
              <a:off x="10168023" y="2430335"/>
              <a:ext cx="384929" cy="426109"/>
            </a:xfrm>
            <a:prstGeom prst="ellipse">
              <a:avLst/>
            </a:prstGeom>
            <a:noFill/>
            <a:ln w="1905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Times New Roman" panose="02020603050405020304" pitchFamily="18" charset="0"/>
                <a:cs typeface="Times New Roman" panose="02020603050405020304" pitchFamily="18" charset="0"/>
              </a:endParaRPr>
            </a:p>
          </p:txBody>
        </p:sp>
        <p:sp>
          <p:nvSpPr>
            <p:cNvPr id="16" name="乗算記号 15">
              <a:extLst>
                <a:ext uri="{FF2B5EF4-FFF2-40B4-BE49-F238E27FC236}">
                  <a16:creationId xmlns:a16="http://schemas.microsoft.com/office/drawing/2014/main" id="{8FA8D13F-97A3-4460-927B-A0281235F4BF}"/>
                </a:ext>
              </a:extLst>
            </p:cNvPr>
            <p:cNvSpPr/>
            <p:nvPr/>
          </p:nvSpPr>
          <p:spPr>
            <a:xfrm>
              <a:off x="10968014" y="2212880"/>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Times New Roman" panose="02020603050405020304" pitchFamily="18" charset="0"/>
                <a:cs typeface="Times New Roman" panose="02020603050405020304" pitchFamily="18" charset="0"/>
              </a:endParaRPr>
            </a:p>
          </p:txBody>
        </p:sp>
        <p:sp>
          <p:nvSpPr>
            <p:cNvPr id="17" name="乗算記号 16">
              <a:extLst>
                <a:ext uri="{FF2B5EF4-FFF2-40B4-BE49-F238E27FC236}">
                  <a16:creationId xmlns:a16="http://schemas.microsoft.com/office/drawing/2014/main" id="{CD468630-8D85-4D00-AC6D-DB91BB6FCEAA}"/>
                </a:ext>
              </a:extLst>
            </p:cNvPr>
            <p:cNvSpPr/>
            <p:nvPr/>
          </p:nvSpPr>
          <p:spPr>
            <a:xfrm>
              <a:off x="10477364" y="2523496"/>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Times New Roman" panose="02020603050405020304" pitchFamily="18" charset="0"/>
                <a:cs typeface="Times New Roman" panose="02020603050405020304" pitchFamily="18" charset="0"/>
              </a:endParaRPr>
            </a:p>
          </p:txBody>
        </p:sp>
        <p:sp>
          <p:nvSpPr>
            <p:cNvPr id="18" name="乗算記号 17">
              <a:extLst>
                <a:ext uri="{FF2B5EF4-FFF2-40B4-BE49-F238E27FC236}">
                  <a16:creationId xmlns:a16="http://schemas.microsoft.com/office/drawing/2014/main" id="{C93BC16B-F283-4B48-9513-5C05B6DCC621}"/>
                </a:ext>
              </a:extLst>
            </p:cNvPr>
            <p:cNvSpPr/>
            <p:nvPr/>
          </p:nvSpPr>
          <p:spPr>
            <a:xfrm>
              <a:off x="9730460" y="2823729"/>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Times New Roman" panose="02020603050405020304" pitchFamily="18" charset="0"/>
                <a:cs typeface="Times New Roman" panose="02020603050405020304" pitchFamily="18" charset="0"/>
              </a:endParaRPr>
            </a:p>
          </p:txBody>
        </p:sp>
        <p:sp>
          <p:nvSpPr>
            <p:cNvPr id="19" name="乗算記号 18">
              <a:extLst>
                <a:ext uri="{FF2B5EF4-FFF2-40B4-BE49-F238E27FC236}">
                  <a16:creationId xmlns:a16="http://schemas.microsoft.com/office/drawing/2014/main" id="{F5B5FC28-2DA8-4A61-9045-C8D8F298CC9E}"/>
                </a:ext>
              </a:extLst>
            </p:cNvPr>
            <p:cNvSpPr/>
            <p:nvPr/>
          </p:nvSpPr>
          <p:spPr>
            <a:xfrm>
              <a:off x="9857416" y="1958429"/>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Times New Roman" panose="02020603050405020304" pitchFamily="18" charset="0"/>
                <a:cs typeface="Times New Roman" panose="02020603050405020304" pitchFamily="18" charset="0"/>
              </a:endParaRPr>
            </a:p>
          </p:txBody>
        </p:sp>
        <p:sp>
          <p:nvSpPr>
            <p:cNvPr id="20" name="円/楕円 17">
              <a:extLst>
                <a:ext uri="{FF2B5EF4-FFF2-40B4-BE49-F238E27FC236}">
                  <a16:creationId xmlns:a16="http://schemas.microsoft.com/office/drawing/2014/main" id="{B33DD5E0-0D91-4680-9921-5F35FDD0A8A7}"/>
                </a:ext>
              </a:extLst>
            </p:cNvPr>
            <p:cNvSpPr/>
            <p:nvPr/>
          </p:nvSpPr>
          <p:spPr>
            <a:xfrm>
              <a:off x="6715432" y="4498257"/>
              <a:ext cx="1937249" cy="1824790"/>
            </a:xfrm>
            <a:prstGeom prst="ellipse">
              <a:avLst/>
            </a:prstGeom>
            <a:noFill/>
            <a:ln w="1905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Times New Roman" panose="02020603050405020304" pitchFamily="18" charset="0"/>
                <a:cs typeface="Times New Roman" panose="02020603050405020304" pitchFamily="18" charset="0"/>
              </a:endParaRPr>
            </a:p>
          </p:txBody>
        </p:sp>
        <p:sp>
          <p:nvSpPr>
            <p:cNvPr id="21" name="円/楕円 18">
              <a:extLst>
                <a:ext uri="{FF2B5EF4-FFF2-40B4-BE49-F238E27FC236}">
                  <a16:creationId xmlns:a16="http://schemas.microsoft.com/office/drawing/2014/main" id="{2F3447A2-52A6-4C4C-99E2-3CE8AF050B96}"/>
                </a:ext>
              </a:extLst>
            </p:cNvPr>
            <p:cNvSpPr/>
            <p:nvPr/>
          </p:nvSpPr>
          <p:spPr>
            <a:xfrm>
              <a:off x="7097195" y="4808872"/>
              <a:ext cx="1167390" cy="1203559"/>
            </a:xfrm>
            <a:prstGeom prst="ellipse">
              <a:avLst/>
            </a:prstGeom>
            <a:noFill/>
            <a:ln w="1905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Times New Roman" panose="02020603050405020304" pitchFamily="18" charset="0"/>
                <a:cs typeface="Times New Roman" panose="02020603050405020304" pitchFamily="18" charset="0"/>
              </a:endParaRPr>
            </a:p>
          </p:txBody>
        </p:sp>
        <p:sp>
          <p:nvSpPr>
            <p:cNvPr id="22" name="円/楕円 19">
              <a:extLst>
                <a:ext uri="{FF2B5EF4-FFF2-40B4-BE49-F238E27FC236}">
                  <a16:creationId xmlns:a16="http://schemas.microsoft.com/office/drawing/2014/main" id="{DDEC9FE5-4A32-457C-A772-F4ADFB53261B}"/>
                </a:ext>
              </a:extLst>
            </p:cNvPr>
            <p:cNvSpPr/>
            <p:nvPr/>
          </p:nvSpPr>
          <p:spPr>
            <a:xfrm>
              <a:off x="7505354" y="5197596"/>
              <a:ext cx="384929" cy="426109"/>
            </a:xfrm>
            <a:prstGeom prst="ellipse">
              <a:avLst/>
            </a:prstGeom>
            <a:noFill/>
            <a:ln w="1905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Times New Roman" panose="02020603050405020304" pitchFamily="18" charset="0"/>
                <a:cs typeface="Times New Roman" panose="02020603050405020304" pitchFamily="18" charset="0"/>
              </a:endParaRPr>
            </a:p>
          </p:txBody>
        </p:sp>
        <p:sp>
          <p:nvSpPr>
            <p:cNvPr id="23" name="乗算記号 22">
              <a:extLst>
                <a:ext uri="{FF2B5EF4-FFF2-40B4-BE49-F238E27FC236}">
                  <a16:creationId xmlns:a16="http://schemas.microsoft.com/office/drawing/2014/main" id="{D2B66A2B-5910-4732-8002-23334F8C48EB}"/>
                </a:ext>
              </a:extLst>
            </p:cNvPr>
            <p:cNvSpPr/>
            <p:nvPr/>
          </p:nvSpPr>
          <p:spPr>
            <a:xfrm>
              <a:off x="8728908" y="5054455"/>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Times New Roman" panose="02020603050405020304" pitchFamily="18" charset="0"/>
                <a:cs typeface="Times New Roman" panose="02020603050405020304" pitchFamily="18" charset="0"/>
              </a:endParaRPr>
            </a:p>
          </p:txBody>
        </p:sp>
        <p:sp>
          <p:nvSpPr>
            <p:cNvPr id="24" name="乗算記号 23">
              <a:extLst>
                <a:ext uri="{FF2B5EF4-FFF2-40B4-BE49-F238E27FC236}">
                  <a16:creationId xmlns:a16="http://schemas.microsoft.com/office/drawing/2014/main" id="{39980FAB-3EBF-4375-A82D-68A15A8AC752}"/>
                </a:ext>
              </a:extLst>
            </p:cNvPr>
            <p:cNvSpPr/>
            <p:nvPr/>
          </p:nvSpPr>
          <p:spPr>
            <a:xfrm>
              <a:off x="8696485" y="4576364"/>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Times New Roman" panose="02020603050405020304" pitchFamily="18" charset="0"/>
                <a:cs typeface="Times New Roman" panose="02020603050405020304" pitchFamily="18" charset="0"/>
              </a:endParaRPr>
            </a:p>
          </p:txBody>
        </p:sp>
        <p:sp>
          <p:nvSpPr>
            <p:cNvPr id="25" name="乗算記号 24">
              <a:extLst>
                <a:ext uri="{FF2B5EF4-FFF2-40B4-BE49-F238E27FC236}">
                  <a16:creationId xmlns:a16="http://schemas.microsoft.com/office/drawing/2014/main" id="{28E94297-B88F-4908-8029-14A2A67B7719}"/>
                </a:ext>
              </a:extLst>
            </p:cNvPr>
            <p:cNvSpPr/>
            <p:nvPr/>
          </p:nvSpPr>
          <p:spPr>
            <a:xfrm>
              <a:off x="8301791" y="5054455"/>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Times New Roman" panose="02020603050405020304" pitchFamily="18" charset="0"/>
                <a:cs typeface="Times New Roman" panose="02020603050405020304" pitchFamily="18" charset="0"/>
              </a:endParaRPr>
            </a:p>
          </p:txBody>
        </p:sp>
        <p:sp>
          <p:nvSpPr>
            <p:cNvPr id="26" name="乗算記号 25">
              <a:extLst>
                <a:ext uri="{FF2B5EF4-FFF2-40B4-BE49-F238E27FC236}">
                  <a16:creationId xmlns:a16="http://schemas.microsoft.com/office/drawing/2014/main" id="{B5020D66-07D8-4061-9C98-2CC37BAB13CB}"/>
                </a:ext>
              </a:extLst>
            </p:cNvPr>
            <p:cNvSpPr/>
            <p:nvPr/>
          </p:nvSpPr>
          <p:spPr>
            <a:xfrm>
              <a:off x="8310157" y="4685186"/>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Times New Roman" panose="02020603050405020304" pitchFamily="18" charset="0"/>
                <a:cs typeface="Times New Roman" panose="02020603050405020304" pitchFamily="18" charset="0"/>
              </a:endParaRPr>
            </a:p>
          </p:txBody>
        </p:sp>
        <p:sp>
          <p:nvSpPr>
            <p:cNvPr id="27" name="円/楕円 24">
              <a:extLst>
                <a:ext uri="{FF2B5EF4-FFF2-40B4-BE49-F238E27FC236}">
                  <a16:creationId xmlns:a16="http://schemas.microsoft.com/office/drawing/2014/main" id="{0B52978A-C794-413B-A2EA-06890F18C6EB}"/>
                </a:ext>
              </a:extLst>
            </p:cNvPr>
            <p:cNvSpPr/>
            <p:nvPr/>
          </p:nvSpPr>
          <p:spPr>
            <a:xfrm>
              <a:off x="9378101" y="4498257"/>
              <a:ext cx="1937249" cy="1824790"/>
            </a:xfrm>
            <a:prstGeom prst="ellipse">
              <a:avLst/>
            </a:prstGeom>
            <a:noFill/>
            <a:ln w="1905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Times New Roman" panose="02020603050405020304" pitchFamily="18" charset="0"/>
                <a:cs typeface="Times New Roman" panose="02020603050405020304" pitchFamily="18" charset="0"/>
              </a:endParaRPr>
            </a:p>
          </p:txBody>
        </p:sp>
        <p:sp>
          <p:nvSpPr>
            <p:cNvPr id="28" name="円/楕円 26">
              <a:extLst>
                <a:ext uri="{FF2B5EF4-FFF2-40B4-BE49-F238E27FC236}">
                  <a16:creationId xmlns:a16="http://schemas.microsoft.com/office/drawing/2014/main" id="{9F725315-58B9-4120-A9E6-F67C0A735E30}"/>
                </a:ext>
              </a:extLst>
            </p:cNvPr>
            <p:cNvSpPr/>
            <p:nvPr/>
          </p:nvSpPr>
          <p:spPr>
            <a:xfrm>
              <a:off x="10168023" y="5197596"/>
              <a:ext cx="384929" cy="426109"/>
            </a:xfrm>
            <a:prstGeom prst="ellipse">
              <a:avLst/>
            </a:prstGeom>
            <a:noFill/>
            <a:ln w="1905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Times New Roman" panose="02020603050405020304" pitchFamily="18" charset="0"/>
                <a:cs typeface="Times New Roman" panose="02020603050405020304" pitchFamily="18" charset="0"/>
              </a:endParaRPr>
            </a:p>
          </p:txBody>
        </p:sp>
        <p:sp>
          <p:nvSpPr>
            <p:cNvPr id="29" name="乗算記号 28">
              <a:extLst>
                <a:ext uri="{FF2B5EF4-FFF2-40B4-BE49-F238E27FC236}">
                  <a16:creationId xmlns:a16="http://schemas.microsoft.com/office/drawing/2014/main" id="{FFB5A211-2339-4F88-8868-9E669A880A7B}"/>
                </a:ext>
              </a:extLst>
            </p:cNvPr>
            <p:cNvSpPr/>
            <p:nvPr/>
          </p:nvSpPr>
          <p:spPr>
            <a:xfrm>
              <a:off x="10630338" y="4887384"/>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Times New Roman" panose="02020603050405020304" pitchFamily="18" charset="0"/>
                <a:cs typeface="Times New Roman" panose="02020603050405020304" pitchFamily="18" charset="0"/>
              </a:endParaRPr>
            </a:p>
          </p:txBody>
        </p:sp>
        <p:sp>
          <p:nvSpPr>
            <p:cNvPr id="30" name="乗算記号 29">
              <a:extLst>
                <a:ext uri="{FF2B5EF4-FFF2-40B4-BE49-F238E27FC236}">
                  <a16:creationId xmlns:a16="http://schemas.microsoft.com/office/drawing/2014/main" id="{23719EE1-508F-4553-8C24-9F46276B6C72}"/>
                </a:ext>
              </a:extLst>
            </p:cNvPr>
            <p:cNvSpPr/>
            <p:nvPr/>
          </p:nvSpPr>
          <p:spPr>
            <a:xfrm>
              <a:off x="10777624" y="5553577"/>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Times New Roman" panose="02020603050405020304" pitchFamily="18" charset="0"/>
                <a:cs typeface="Times New Roman" panose="02020603050405020304" pitchFamily="18" charset="0"/>
              </a:endParaRPr>
            </a:p>
          </p:txBody>
        </p:sp>
        <p:sp>
          <p:nvSpPr>
            <p:cNvPr id="31" name="乗算記号 30">
              <a:extLst>
                <a:ext uri="{FF2B5EF4-FFF2-40B4-BE49-F238E27FC236}">
                  <a16:creationId xmlns:a16="http://schemas.microsoft.com/office/drawing/2014/main" id="{8B2F8FF2-9549-4377-AE0A-D182CB40922C}"/>
                </a:ext>
              </a:extLst>
            </p:cNvPr>
            <p:cNvSpPr/>
            <p:nvPr/>
          </p:nvSpPr>
          <p:spPr>
            <a:xfrm>
              <a:off x="11188010" y="5034969"/>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Times New Roman" panose="02020603050405020304" pitchFamily="18" charset="0"/>
                <a:cs typeface="Times New Roman" panose="02020603050405020304" pitchFamily="18" charset="0"/>
              </a:endParaRPr>
            </a:p>
          </p:txBody>
        </p:sp>
        <p:sp>
          <p:nvSpPr>
            <p:cNvPr id="32" name="乗算記号 31">
              <a:extLst>
                <a:ext uri="{FF2B5EF4-FFF2-40B4-BE49-F238E27FC236}">
                  <a16:creationId xmlns:a16="http://schemas.microsoft.com/office/drawing/2014/main" id="{1AC3F630-034E-4D18-A4DE-11EB0D2485DB}"/>
                </a:ext>
              </a:extLst>
            </p:cNvPr>
            <p:cNvSpPr/>
            <p:nvPr/>
          </p:nvSpPr>
          <p:spPr>
            <a:xfrm>
              <a:off x="11581518" y="4798346"/>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Times New Roman" panose="02020603050405020304" pitchFamily="18" charset="0"/>
                <a:cs typeface="Times New Roman" panose="02020603050405020304" pitchFamily="18" charset="0"/>
              </a:endParaRPr>
            </a:p>
          </p:txBody>
        </p:sp>
        <p:sp>
          <p:nvSpPr>
            <p:cNvPr id="33" name="テキスト ボックス 32">
              <a:extLst>
                <a:ext uri="{FF2B5EF4-FFF2-40B4-BE49-F238E27FC236}">
                  <a16:creationId xmlns:a16="http://schemas.microsoft.com/office/drawing/2014/main" id="{531E8A41-7274-44D5-A930-46BD6553375A}"/>
                </a:ext>
              </a:extLst>
            </p:cNvPr>
            <p:cNvSpPr txBox="1"/>
            <p:nvPr/>
          </p:nvSpPr>
          <p:spPr>
            <a:xfrm>
              <a:off x="6763089" y="1044357"/>
              <a:ext cx="1684912" cy="646331"/>
            </a:xfrm>
            <a:prstGeom prst="rect">
              <a:avLst/>
            </a:prstGeom>
            <a:noFill/>
          </p:spPr>
          <p:txBody>
            <a:bodyPr wrap="square" rtlCol="0">
              <a:spAutoFit/>
            </a:bodyPr>
            <a:lstStyle/>
            <a:p>
              <a:r>
                <a:rPr kumimoji="1" lang="en-US" altLang="ja-JP" dirty="0">
                  <a:latin typeface="Times New Roman" panose="02020603050405020304" pitchFamily="18" charset="0"/>
                  <a:cs typeface="Times New Roman" panose="02020603050405020304" pitchFamily="18" charset="0"/>
                </a:rPr>
                <a:t>Small variation</a:t>
              </a:r>
            </a:p>
            <a:p>
              <a:r>
                <a:rPr kumimoji="1" lang="en-US" altLang="ja-JP" dirty="0">
                  <a:latin typeface="Times New Roman" panose="02020603050405020304" pitchFamily="18" charset="0"/>
                  <a:cs typeface="Times New Roman" panose="02020603050405020304" pitchFamily="18" charset="0"/>
                </a:rPr>
                <a:t>Small bias</a:t>
              </a:r>
              <a:endParaRPr kumimoji="1" lang="ja-JP" altLang="en-US" dirty="0">
                <a:latin typeface="Times New Roman" panose="02020603050405020304" pitchFamily="18" charset="0"/>
                <a:cs typeface="Times New Roman" panose="02020603050405020304" pitchFamily="18" charset="0"/>
              </a:endParaRPr>
            </a:p>
          </p:txBody>
        </p:sp>
        <p:sp>
          <p:nvSpPr>
            <p:cNvPr id="34" name="テキスト ボックス 33">
              <a:extLst>
                <a:ext uri="{FF2B5EF4-FFF2-40B4-BE49-F238E27FC236}">
                  <a16:creationId xmlns:a16="http://schemas.microsoft.com/office/drawing/2014/main" id="{DB2B4642-5F36-4CEB-902A-40183AA6B7DC}"/>
                </a:ext>
              </a:extLst>
            </p:cNvPr>
            <p:cNvSpPr txBox="1"/>
            <p:nvPr/>
          </p:nvSpPr>
          <p:spPr>
            <a:xfrm>
              <a:off x="9386340" y="1044357"/>
              <a:ext cx="1684912" cy="646331"/>
            </a:xfrm>
            <a:prstGeom prst="rect">
              <a:avLst/>
            </a:prstGeom>
            <a:noFill/>
          </p:spPr>
          <p:txBody>
            <a:bodyPr wrap="square" rtlCol="0">
              <a:spAutoFit/>
            </a:bodyPr>
            <a:lstStyle/>
            <a:p>
              <a:r>
                <a:rPr kumimoji="1" lang="en-US" altLang="ja-JP" dirty="0">
                  <a:latin typeface="Times New Roman" panose="02020603050405020304" pitchFamily="18" charset="0"/>
                  <a:cs typeface="Times New Roman" panose="02020603050405020304" pitchFamily="18" charset="0"/>
                </a:rPr>
                <a:t>Large variation</a:t>
              </a:r>
            </a:p>
            <a:p>
              <a:r>
                <a:rPr kumimoji="1" lang="en-US" altLang="ja-JP" dirty="0">
                  <a:latin typeface="Times New Roman" panose="02020603050405020304" pitchFamily="18" charset="0"/>
                  <a:cs typeface="Times New Roman" panose="02020603050405020304" pitchFamily="18" charset="0"/>
                </a:rPr>
                <a:t>Small bias</a:t>
              </a:r>
              <a:endParaRPr kumimoji="1" lang="ja-JP" altLang="en-US" dirty="0">
                <a:latin typeface="Times New Roman" panose="02020603050405020304" pitchFamily="18" charset="0"/>
                <a:cs typeface="Times New Roman" panose="02020603050405020304" pitchFamily="18" charset="0"/>
              </a:endParaRPr>
            </a:p>
          </p:txBody>
        </p:sp>
        <p:sp>
          <p:nvSpPr>
            <p:cNvPr id="35" name="テキスト ボックス 34">
              <a:extLst>
                <a:ext uri="{FF2B5EF4-FFF2-40B4-BE49-F238E27FC236}">
                  <a16:creationId xmlns:a16="http://schemas.microsoft.com/office/drawing/2014/main" id="{5F45AEF9-D723-4502-9B87-225DCE7E95E4}"/>
                </a:ext>
              </a:extLst>
            </p:cNvPr>
            <p:cNvSpPr txBox="1"/>
            <p:nvPr/>
          </p:nvSpPr>
          <p:spPr>
            <a:xfrm>
              <a:off x="6758425" y="3795045"/>
              <a:ext cx="1684912" cy="646331"/>
            </a:xfrm>
            <a:prstGeom prst="rect">
              <a:avLst/>
            </a:prstGeom>
            <a:noFill/>
          </p:spPr>
          <p:txBody>
            <a:bodyPr wrap="square" rtlCol="0">
              <a:spAutoFit/>
            </a:bodyPr>
            <a:lstStyle/>
            <a:p>
              <a:r>
                <a:rPr kumimoji="1" lang="en-US" altLang="ja-JP" dirty="0">
                  <a:latin typeface="Times New Roman" panose="02020603050405020304" pitchFamily="18" charset="0"/>
                  <a:cs typeface="Times New Roman" panose="02020603050405020304" pitchFamily="18" charset="0"/>
                </a:rPr>
                <a:t>Small variation</a:t>
              </a:r>
            </a:p>
            <a:p>
              <a:r>
                <a:rPr kumimoji="1" lang="en-US" altLang="ja-JP" dirty="0">
                  <a:latin typeface="Times New Roman" panose="02020603050405020304" pitchFamily="18" charset="0"/>
                  <a:cs typeface="Times New Roman" panose="02020603050405020304" pitchFamily="18" charset="0"/>
                </a:rPr>
                <a:t>Large bias</a:t>
              </a:r>
              <a:endParaRPr kumimoji="1" lang="ja-JP" altLang="en-US" dirty="0">
                <a:latin typeface="Times New Roman" panose="02020603050405020304" pitchFamily="18" charset="0"/>
                <a:cs typeface="Times New Roman" panose="02020603050405020304" pitchFamily="18" charset="0"/>
              </a:endParaRPr>
            </a:p>
          </p:txBody>
        </p:sp>
        <p:sp>
          <p:nvSpPr>
            <p:cNvPr id="36" name="テキスト ボックス 35">
              <a:extLst>
                <a:ext uri="{FF2B5EF4-FFF2-40B4-BE49-F238E27FC236}">
                  <a16:creationId xmlns:a16="http://schemas.microsoft.com/office/drawing/2014/main" id="{B8D752E6-D054-4ECB-B636-1A780B192D66}"/>
                </a:ext>
              </a:extLst>
            </p:cNvPr>
            <p:cNvSpPr txBox="1"/>
            <p:nvPr/>
          </p:nvSpPr>
          <p:spPr>
            <a:xfrm>
              <a:off x="9381676" y="3795045"/>
              <a:ext cx="1684912" cy="646331"/>
            </a:xfrm>
            <a:prstGeom prst="rect">
              <a:avLst/>
            </a:prstGeom>
            <a:noFill/>
          </p:spPr>
          <p:txBody>
            <a:bodyPr wrap="square" rtlCol="0">
              <a:spAutoFit/>
            </a:bodyPr>
            <a:lstStyle/>
            <a:p>
              <a:r>
                <a:rPr kumimoji="1" lang="en-US" altLang="ja-JP" dirty="0">
                  <a:latin typeface="Times New Roman" panose="02020603050405020304" pitchFamily="18" charset="0"/>
                  <a:cs typeface="Times New Roman" panose="02020603050405020304" pitchFamily="18" charset="0"/>
                </a:rPr>
                <a:t>Large variation</a:t>
              </a:r>
            </a:p>
            <a:p>
              <a:r>
                <a:rPr kumimoji="1" lang="en-US" altLang="ja-JP" dirty="0">
                  <a:latin typeface="Times New Roman" panose="02020603050405020304" pitchFamily="18" charset="0"/>
                  <a:cs typeface="Times New Roman" panose="02020603050405020304" pitchFamily="18" charset="0"/>
                </a:rPr>
                <a:t>Large bias</a:t>
              </a:r>
              <a:endParaRPr kumimoji="1" lang="ja-JP" altLang="en-US" dirty="0">
                <a:latin typeface="Times New Roman" panose="02020603050405020304" pitchFamily="18" charset="0"/>
                <a:cs typeface="Times New Roman" panose="02020603050405020304" pitchFamily="18" charset="0"/>
              </a:endParaRPr>
            </a:p>
          </p:txBody>
        </p:sp>
        <p:sp>
          <p:nvSpPr>
            <p:cNvPr id="37" name="乗算記号 36">
              <a:extLst>
                <a:ext uri="{FF2B5EF4-FFF2-40B4-BE49-F238E27FC236}">
                  <a16:creationId xmlns:a16="http://schemas.microsoft.com/office/drawing/2014/main" id="{DE6D2220-BDA7-4A09-B527-2EB2E8DE92CC}"/>
                </a:ext>
              </a:extLst>
            </p:cNvPr>
            <p:cNvSpPr/>
            <p:nvPr/>
          </p:nvSpPr>
          <p:spPr>
            <a:xfrm>
              <a:off x="7599018" y="2419975"/>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Times New Roman" panose="02020603050405020304" pitchFamily="18" charset="0"/>
                <a:cs typeface="Times New Roman" panose="02020603050405020304" pitchFamily="18" charset="0"/>
              </a:endParaRPr>
            </a:p>
          </p:txBody>
        </p:sp>
        <p:sp>
          <p:nvSpPr>
            <p:cNvPr id="38" name="乗算記号 37">
              <a:extLst>
                <a:ext uri="{FF2B5EF4-FFF2-40B4-BE49-F238E27FC236}">
                  <a16:creationId xmlns:a16="http://schemas.microsoft.com/office/drawing/2014/main" id="{C557B7AE-1DBB-48E5-BE31-7F987A1417A5}"/>
                </a:ext>
              </a:extLst>
            </p:cNvPr>
            <p:cNvSpPr/>
            <p:nvPr/>
          </p:nvSpPr>
          <p:spPr>
            <a:xfrm>
              <a:off x="8560249" y="4815410"/>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Times New Roman" panose="02020603050405020304" pitchFamily="18" charset="0"/>
                <a:cs typeface="Times New Roman" panose="02020603050405020304" pitchFamily="18" charset="0"/>
              </a:endParaRPr>
            </a:p>
          </p:txBody>
        </p:sp>
        <p:sp>
          <p:nvSpPr>
            <p:cNvPr id="39" name="乗算記号 38">
              <a:extLst>
                <a:ext uri="{FF2B5EF4-FFF2-40B4-BE49-F238E27FC236}">
                  <a16:creationId xmlns:a16="http://schemas.microsoft.com/office/drawing/2014/main" id="{D8EEBBF3-F74E-434D-8F1E-DE87D7F850E1}"/>
                </a:ext>
              </a:extLst>
            </p:cNvPr>
            <p:cNvSpPr/>
            <p:nvPr/>
          </p:nvSpPr>
          <p:spPr>
            <a:xfrm>
              <a:off x="10394121" y="3148809"/>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Times New Roman" panose="02020603050405020304" pitchFamily="18" charset="0"/>
                <a:cs typeface="Times New Roman" panose="02020603050405020304" pitchFamily="18" charset="0"/>
              </a:endParaRPr>
            </a:p>
          </p:txBody>
        </p:sp>
        <p:sp>
          <p:nvSpPr>
            <p:cNvPr id="40" name="乗算記号 39">
              <a:extLst>
                <a:ext uri="{FF2B5EF4-FFF2-40B4-BE49-F238E27FC236}">
                  <a16:creationId xmlns:a16="http://schemas.microsoft.com/office/drawing/2014/main" id="{CC1E714B-2CCA-44C5-85FE-24630ABFB114}"/>
                </a:ext>
              </a:extLst>
            </p:cNvPr>
            <p:cNvSpPr/>
            <p:nvPr/>
          </p:nvSpPr>
          <p:spPr>
            <a:xfrm>
              <a:off x="11653925" y="5398269"/>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Times New Roman" panose="02020603050405020304" pitchFamily="18" charset="0"/>
                <a:cs typeface="Times New Roman" panose="02020603050405020304" pitchFamily="18" charset="0"/>
              </a:endParaRPr>
            </a:p>
          </p:txBody>
        </p:sp>
        <p:sp>
          <p:nvSpPr>
            <p:cNvPr id="41" name="乗算記号 40">
              <a:extLst>
                <a:ext uri="{FF2B5EF4-FFF2-40B4-BE49-F238E27FC236}">
                  <a16:creationId xmlns:a16="http://schemas.microsoft.com/office/drawing/2014/main" id="{822BA481-7D6F-401D-9C8A-2F3FC931E9AB}"/>
                </a:ext>
              </a:extLst>
            </p:cNvPr>
            <p:cNvSpPr/>
            <p:nvPr/>
          </p:nvSpPr>
          <p:spPr>
            <a:xfrm>
              <a:off x="10975165" y="2685700"/>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Times New Roman" panose="02020603050405020304" pitchFamily="18" charset="0"/>
                <a:cs typeface="Times New Roman" panose="02020603050405020304" pitchFamily="18" charset="0"/>
              </a:endParaRPr>
            </a:p>
          </p:txBody>
        </p:sp>
        <p:sp>
          <p:nvSpPr>
            <p:cNvPr id="42" name="乗算記号 41">
              <a:extLst>
                <a:ext uri="{FF2B5EF4-FFF2-40B4-BE49-F238E27FC236}">
                  <a16:creationId xmlns:a16="http://schemas.microsoft.com/office/drawing/2014/main" id="{2D809526-D8C1-41DE-850D-E2CD0C67A3CA}"/>
                </a:ext>
              </a:extLst>
            </p:cNvPr>
            <p:cNvSpPr/>
            <p:nvPr/>
          </p:nvSpPr>
          <p:spPr>
            <a:xfrm>
              <a:off x="7726302" y="2138814"/>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Times New Roman" panose="02020603050405020304" pitchFamily="18" charset="0"/>
                <a:cs typeface="Times New Roman" panose="02020603050405020304" pitchFamily="18" charset="0"/>
              </a:endParaRPr>
            </a:p>
          </p:txBody>
        </p:sp>
        <p:sp>
          <p:nvSpPr>
            <p:cNvPr id="43" name="乗算記号 42">
              <a:extLst>
                <a:ext uri="{FF2B5EF4-FFF2-40B4-BE49-F238E27FC236}">
                  <a16:creationId xmlns:a16="http://schemas.microsoft.com/office/drawing/2014/main" id="{D9E3DD91-4C1A-42FD-BAFF-88882EB878F8}"/>
                </a:ext>
              </a:extLst>
            </p:cNvPr>
            <p:cNvSpPr/>
            <p:nvPr/>
          </p:nvSpPr>
          <p:spPr>
            <a:xfrm>
              <a:off x="11295326" y="4294657"/>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Times New Roman" panose="02020603050405020304" pitchFamily="18" charset="0"/>
                <a:cs typeface="Times New Roman" panose="02020603050405020304" pitchFamily="18" charset="0"/>
              </a:endParaRPr>
            </a:p>
          </p:txBody>
        </p:sp>
        <p:sp>
          <p:nvSpPr>
            <p:cNvPr id="44" name="乗算記号 43">
              <a:extLst>
                <a:ext uri="{FF2B5EF4-FFF2-40B4-BE49-F238E27FC236}">
                  <a16:creationId xmlns:a16="http://schemas.microsoft.com/office/drawing/2014/main" id="{A5BCF2D6-7E87-4D08-8D95-F2C5A34767EC}"/>
                </a:ext>
              </a:extLst>
            </p:cNvPr>
            <p:cNvSpPr/>
            <p:nvPr/>
          </p:nvSpPr>
          <p:spPr>
            <a:xfrm>
              <a:off x="8578998" y="5315410"/>
              <a:ext cx="292739" cy="310616"/>
            </a:xfrm>
            <a:prstGeom prst="mathMultiply">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2192512533"/>
      </p:ext>
    </p:extLst>
  </p:cSld>
  <p:clrMapOvr>
    <a:masterClrMapping/>
  </p:clrMapOvr>
</p:sld>
</file>

<file path=ppt/theme/theme1.xml><?xml version="1.0" encoding="utf-8"?>
<a:theme xmlns:a="http://schemas.openxmlformats.org/drawingml/2006/main" name="Office Theme">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108718</TotalTime>
  <Words>613</Words>
  <Application>Microsoft Office PowerPoint</Application>
  <PresentationFormat>ワイド画面</PresentationFormat>
  <Paragraphs>56</Paragraphs>
  <Slides>4</Slides>
  <Notes>4</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4</vt:i4>
      </vt:variant>
    </vt:vector>
  </HeadingPairs>
  <TitlesOfParts>
    <vt:vector size="10" baseType="lpstr">
      <vt:lpstr>ＭＳ Ｐゴシック</vt:lpstr>
      <vt:lpstr>メイリオ</vt:lpstr>
      <vt:lpstr>Arial</vt:lpstr>
      <vt:lpstr>Calibri</vt:lpstr>
      <vt:lpstr>Times New Roman</vt:lpstr>
      <vt:lpstr>Office Theme</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清水さやか</dc:creator>
  <cp:lastModifiedBy>Shiro</cp:lastModifiedBy>
  <cp:revision>2154</cp:revision>
  <cp:lastPrinted>2017-03-24T10:24:23Z</cp:lastPrinted>
  <dcterms:created xsi:type="dcterms:W3CDTF">2014-12-19T08:34:42Z</dcterms:created>
  <dcterms:modified xsi:type="dcterms:W3CDTF">2025-12-16T00:43:49Z</dcterms:modified>
</cp:coreProperties>
</file>